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(60s): Two threads meet in this talk. Google shipped OKF — an open spec that formalizes the 'LLM wiki' pattern: organizational knowledge as markdown + YAML frontmatter, designed to be written and maintained by agents as much as by people. And we have Neo4j, which is where knowledge shaped like a graph wants to live. Thesis: an OKF bundle IS a graph, serialized as files — materialize it in Neo4j and you get governance queries and grounded retrieval that neither the files nor a vector store can do. Everything shown is in the repo: parser, ingestion, notebook,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The context agents need — table semantics, metric definitions, runbooks, deprecations — exists, but as exhaust across five systems, each with its own API and none portable. Every agent team rebuilds context assembly; every vendor sells you their proprietary catalog. OKF's bet, per Google's own framing: knowledge should be a FORMAT, not a platform. Files you can cat, diff, git-clone. Note their observation that agents are often better wiki maintainers than humans — they don't get bored or forget cross-references. That's why trust metadata becomes load-bearing: when agents write most of the corpus you need provenance machinery, which is exactly what v0.2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Left — an OKF bundle: markdown files with frontmatter, cross-linked. Right — the same bytes as a labeled property graph: concepts, sections, actors, sources. The arrow in the middle is boring on purpose: no LLM, no inference, just parsing structure that's already there. That boringness is a feature — ingestion is reproducible and cheap, and we save the model calls for retrieval time where they buy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Orient the audience on the spec itself. Emphasize the conformance posture — it's aggressively permissive (MUST NOT reject unknown types, keys, broken links) which matters for us as consumers: our ingester must be permissive too. And flag fact 4: v0.2's trust families are the interesting part for a graph audience — they're literally edge data waiting for a graph. The samples in the repo: GA4, Stack Overflow, Bitcoin, and acme_retail which we'll use throughout — it exercises every v0.2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The acme_retail sample: tables, metrics, computations, policies, plus executor skills and attester code. Reserved names: index.md (progressive disclosure — an agent can navigate one level at a time instead of slurping the whole tree into context) and log.md (chronological history). Note gross-margin-legacy sitting there with status: deprecated — the spec says keep it for reproducibility. Remember that file; it's the landmine the GraphRAG demo steps 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One real file, dissected. Frontmatter: type is the only required key — we'll mint Neo4j secondary labels from it. generated vs verified is the key split: who wrote it need not be who confirmed it, and the actor convention (human: / process: / producer-version) is what trust tiers key off. sources carry per-source credibility signals — author, usage_count, last_modified — signals, not scores; scoring is the consumer's job. Body: conventional h1 sections, links whose meaning lives in prose, and footnotes keyed to sources[].id giving CLAIM-level attribution that survives agents rewriting the doc. Every callout on the right names the graph element it becomes.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Four families. Provenance: sources + objective signals; credibility is inferred at consumption, deliberately not stored. Trust: generated/verified split, three derived tiers — and absence is meaningful: unverified is a legitimate, visible state, never a parse error. Lifecycle: absolute dates (stale_after), so staleness is a date comparison, not TTL math against read-time. Attestation is the deep one: a sanctioned computation is its own concept — typed parameters, an executor that returns a receipt (job_id + executed_sql), an attester that's deterministic code, no LLM. Agents may bind parameters; they may not author SQL. verified ≠ attested: doc-level vs per-run.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Pivot slide. Path = node identity, links = edges, frontmatter = properties, directory tree = one grouping dimension. Google says it themselves: graph-shaped, not just tree-shaped — they even ship a static viz.html with every bundle. So the interesting question isn't WHETHER this is a graph; it's what tooling you get once you admit it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Nothing against viz.html — static, self-contained, great for browsing one bundle. But it can't answer questions: filter by trust tier, staleness reports, impact analysis across hops, aggregation over frontmatter, similarity retrieval, joining multiple bundles into one estate view. Those are database jobs. Everything on the right comes from ~400 lines of parser + plain Cypher MERGE — no APOC, no plugins — plus the neo4j-graphrag package for indexes and retrievers.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The center is :Concept, one per file, uid = bundle + path. Around it: Bundle; Actor with GENERATED_BY/VERIFIED_BY carrying timestamps on the edges; Source with the DERIVES_FROM/RESOLVES_TO pair — RESOLVES_TO is what turns 'this source is actually another concept in the bundle' into a traversable provenance chain; Section is the lexical layer — OKF's conventional headings hand us retrieval units so chunking is free; CITES gives claim-level citations from footnotes. LINKS_TO keeps the section it came from as an edge property — the spec says relationship meaning lives in surrounding prose, so we preserve exactly where each link appeared. Attested computations get EXECUTED_BY to the skill concept and ATTESTED_BY to the checker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This is the reference card — it's in the repo README too. Call out three rows. Broken links become stub nodes with stub:true — the spec's 'not-yet-written knowledge' becomes a queryable authoring backlog. Sources: intrinsic facts (author, last_modified) live on the Source node; declaration-scoped facts (usage_count over a window, declared by the citing concept) live on the DERIVES_FROM edge — a clean node-vs-edge property decision the spec hands you if you read it carefully. And index.md is deliberately NOT ingested: it's derivable, progressive disclosure is a serving concern — we can regenerate indexes FROM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These five are where OKF-specific modeling pays off. #1 matters for RAG quality — OKF documents are already written in semantically coherent sections, so we chunk on author intent, not on 512 tokens. #3 is a pattern worth stealing generally: derive in a query you can show and audit, materialize for filter performance, keep both in the repo so they can't drift apart silently. #4: acme_retail actually ships a producer extension field ('not:' — anti-definitions for the margin metric); we keep it queryable JSON instead of dropping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Three phases with a hard boundary. Phase 1 is deterministic — frontmatter families, link resolution with a root-relative fallback (real bundles use bare root paths in executor fields; conformance-in-practice means resolve generously), fence-aware sectioning, actor parsing, stub minting. Batched UNWIND MERGEs; typed date()/datetime() properties. Phase 2 is optional and separable: embed sections, build vector + fulltext indexes via neo4j-graphrag's helpers — you can build and query the whole structural graph with zero API keys. Phase 3 is where LLMs finally appear, at the edges. LLM calls in phase 1: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Governance as one-liners. Left: the serve/no-serve verdict across the whole estate — deprecated beats stale beats servable; this is the query a serving layer should run before handing ANY doc to an agent. Right: impact analysis — one variable-length traversal over every forward dependency edge, INCLUDING provenance chains that pass through Source nodes (that's the RESOLVES_TO hop) and section-level mentions. Wikis fundamentally cannot answer this and it's the first thing a data platform team asks for. Below: three more that fall out for free. All of these are in okf_graph/queries.py — steal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beats (5 min): (1) Show the raw bundle first — cat gross-margin.md so the frontmatter families are fresh. (2) Run the ingest CLI (uv run okf-graph); point at the stats dict — 9 concepts, 22 sections, and importantly 0 LLM calls. (3) Governance queries: trust-tier distribution (8 human-reviewed, 1 unverified — the skill doc), staleness verdicts (legacy → do-not-serve), impact of the revenue-recognition policy. (4) neo4j-viz colored by status — the red deprecated node visually isolated with its two LINKS_TO edges to/from gross-margin. If time allows, run the §4.6 cell: a second tiny bundle (demo_extras) lands in the same graph — broken links become a queryable authoring backlog (stubs) and all three trust tiers appear. Fallback if live Neo4j misbehaves: the executed notebook copy has all outputs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All three retrievers come from the neo4j-graphrag package against the same store — this is the payoff of doing the modeling work. Left: plain vector — fast, zero modeling, and blind to everything we just built; note the retrieval list — the legacy definition outranks the current one. Middle: VectorCypherRetriever — the ANN hit is just an ANCHOR; a Cypher retrieval_query walks out from it and ASSEMBLES the context. Right: Text2Cypher for questions that have no similarity anchor at all — negations, aggregates. GraphRAG wraps any of them with any LLM. Rule of thumb: vector for 'what does X mean', vector+cypher for 'answer with governance', text2cypher for 'report over the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 the money slide: In recorded runs the deprecated definition lands at or near the TOP of the ranking — and fairly so: it's a well-written paragraph about exactly this topic; cosine similarity is doing its job perfectly. (Exact order can vary by embedder — the point is that NOTHING in a similarity score encodes deprecation.) The failure is asking similarity to also do governance. Path A hands the LLM two confident texts with zero signals — the answer can silently serve a formula retired in February, a 4-6 point margin misstatement. Path B, same anchors: HAS_SECTION up to the concept, read status/trust, follow LINKS_TO to the replacement AND to the sanctioned computation, VERIFIED_BY + stale_after for the verdict. Same model, same embeddings, same top-k. The only variable is what retrieval hands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Mechanics slide. Left: the application diff between ungoverned and governed RAG is ONE constructor argument — that's the neo4j-graphrag package earning its keep. Right: the retrieval query's shape — node and score arrive from the index; everything else is ordinary Cypher you own. Formatting the return as a readable block matters: the LLM sees status verdicts stated in words, next to the text. Result formatters keep content clean (metadata separate). Point out the 1..2 hop bound and the ORDER BY hops so the directly-linked computation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These are governance REPORTS phrased in natural language — negation ('never reviewed'), date math, multi-entity joins. No embedding will find you 'the set of metrics lacking human review'; there is no paragraph to be similar to. Text2CypherRetriever compiles the question against our hand-written schema — keep that schema SMALL and curated, it out-performs dumping the full introspected schema. The generated Cypher comes back in metadata, so every answer is auditable — the query IS the receipt. Production posture: read-only role, and promote recurring questions to canned parameterized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beats (7 min): (1) Embed + index — one cell. (2) Baseline: show the annotated hits table FIRST (concept, status, trust, score) so the audience sees deprecated at rank 1 before the answer generates; then the answer — sometimes right, sometimes the legacy formula, always UNGOVERNED context. (3) Governed: print items[0].content — the assembled block with SUPERSEDED BY, trust, freshness, sanctioned SQL — then the answer, which now names the policy and the verification. (4) Text2Cypher impact question; show r.metadata['cypher']. If time: hybrid retriever one-liner for exact-token queries like net_amount. Have the executed notebook open in a second tab as the no-network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The structural graph is exact but only as connected as its explicit links. The neo4j-graphrag KG builder (SimpleKGPipeline) adds the complementary layer: schema-guided entity extraction over the policy PROSE — cost components, policy rules, teams — with FROM_CHUNK provenance back to the text. Then stitch: entity name ↔ section text matches become REFERS_TO edges. Now 'payment fees' connects the margin standard, the computation SQL, and the orders table even though no markdown link ties them. Notebook appendix runs it on two policies in ~a minute (server needs the APOC plugin — the repo compose installs it; okf_graph itself never calls APOC). Structural = trunk, extracted = foliage; keep them distinguishable — extracted facts are lower-trust by construction, which, fittingly, is exactly what OKF's tiers vocabulary lets you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Three audiences, three takeaways each. If they remember one sentence: an OKF bundle is a graph that happens to be stored as files — Neo4j makes it answer questions, and GraphRAG makes it govern what your LLM says. Everything demoed is plain Cypher plus one pip-installable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prompts to keep in pocket: How would this handle multiple bundles with conflicting metric definitions? (bundle-scoped uids + cross-bundle same-title query — good discussion.) Why not put OKF straight into a vector DB? (slide 17 IS the answer — replay it.) What about writes — agents maintaining the bundle? (git is the write path; the graph is a read model; log.md entries already land as LogEntry nodes, and idempotent MERGE makes re-sync cheap.) GDS angle: PageRank for load-bearing concepts, community detection for topic clusters once bundles get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Shape 0"/>
          <p:cNvSpPr/>
          <p:nvPr/>
        </p:nvSpPr>
        <p:spPr>
          <a:xfrm flipV="1">
            <a:off x="10149840" y="1190549"/>
            <a:ext cx="1209294" cy="546811"/>
          </a:xfrm>
          <a:prstGeom prst="line">
            <a:avLst/>
          </a:prstGeom>
          <a:noFill/>
          <a:ln w="17780">
            <a:solidFill>
              <a:srgbClr val="3E5578"/>
            </a:solidFill>
            <a:prstDash val="solid"/>
          </a:ln>
        </p:spPr>
      </p:sp>
      <p:sp>
        <p:nvSpPr>
          <p:cNvPr id="3" name="Shape 1"/>
          <p:cNvSpPr/>
          <p:nvPr/>
        </p:nvSpPr>
        <p:spPr>
          <a:xfrm>
            <a:off x="10149840" y="1737360"/>
            <a:ext cx="1104138" cy="651967"/>
          </a:xfrm>
          <a:prstGeom prst="line">
            <a:avLst/>
          </a:prstGeom>
          <a:noFill/>
          <a:ln w="17780">
            <a:solidFill>
              <a:srgbClr val="3E5578"/>
            </a:solidFill>
            <a:prstDash val="solid"/>
          </a:ln>
        </p:spPr>
      </p:sp>
      <p:sp>
        <p:nvSpPr>
          <p:cNvPr id="4" name="Shape 2"/>
          <p:cNvSpPr/>
          <p:nvPr/>
        </p:nvSpPr>
        <p:spPr>
          <a:xfrm flipH="1">
            <a:off x="9150858" y="1737360"/>
            <a:ext cx="998982" cy="578358"/>
          </a:xfrm>
          <a:prstGeom prst="line">
            <a:avLst/>
          </a:prstGeom>
          <a:noFill/>
          <a:ln w="17780">
            <a:solidFill>
              <a:srgbClr val="3E5578"/>
            </a:solidFill>
            <a:prstDash val="solid"/>
          </a:ln>
        </p:spPr>
      </p:sp>
      <p:sp>
        <p:nvSpPr>
          <p:cNvPr id="5" name="Shape 3"/>
          <p:cNvSpPr/>
          <p:nvPr/>
        </p:nvSpPr>
        <p:spPr>
          <a:xfrm flipH="1" flipV="1">
            <a:off x="9098280" y="1085393"/>
            <a:ext cx="1051560" cy="651967"/>
          </a:xfrm>
          <a:prstGeom prst="line">
            <a:avLst/>
          </a:prstGeom>
          <a:noFill/>
          <a:ln w="17780">
            <a:solidFill>
              <a:srgbClr val="3E5578"/>
            </a:solidFill>
            <a:prstDash val="solid"/>
          </a:ln>
        </p:spPr>
      </p:sp>
      <p:sp>
        <p:nvSpPr>
          <p:cNvPr id="6" name="Shape 4"/>
          <p:cNvSpPr/>
          <p:nvPr/>
        </p:nvSpPr>
        <p:spPr>
          <a:xfrm>
            <a:off x="9792310" y="1379830"/>
            <a:ext cx="715061" cy="715061"/>
          </a:xfrm>
          <a:prstGeom prst="ellipse">
            <a:avLst/>
          </a:prstGeom>
          <a:solidFill>
            <a:srgbClr val="6EA8FF"/>
          </a:solidFill>
          <a:ln w="25400">
            <a:solidFill>
              <a:srgbClr val="0F1E33"/>
            </a:solidFill>
            <a:prstDash val="solid"/>
          </a:ln>
        </p:spPr>
      </p:sp>
      <p:sp>
        <p:nvSpPr>
          <p:cNvPr id="7" name="Shape 5"/>
          <p:cNvSpPr/>
          <p:nvPr/>
        </p:nvSpPr>
        <p:spPr>
          <a:xfrm>
            <a:off x="11106760" y="938174"/>
            <a:ext cx="504749" cy="504749"/>
          </a:xfrm>
          <a:prstGeom prst="ellipse">
            <a:avLst/>
          </a:prstGeom>
          <a:solidFill>
            <a:srgbClr val="159E84"/>
          </a:solidFill>
          <a:ln w="25400">
            <a:solidFill>
              <a:srgbClr val="0F1E33"/>
            </a:solidFill>
            <a:prstDash val="solid"/>
          </a:ln>
        </p:spPr>
      </p:sp>
      <p:sp>
        <p:nvSpPr>
          <p:cNvPr id="8" name="Shape 6"/>
          <p:cNvSpPr/>
          <p:nvPr/>
        </p:nvSpPr>
        <p:spPr>
          <a:xfrm>
            <a:off x="11043666" y="2179015"/>
            <a:ext cx="420624" cy="420624"/>
          </a:xfrm>
          <a:prstGeom prst="ellipse">
            <a:avLst/>
          </a:prstGeom>
          <a:solidFill>
            <a:srgbClr val="7C5CD6"/>
          </a:solidFill>
          <a:ln w="25400">
            <a:solidFill>
              <a:srgbClr val="0F1E33"/>
            </a:solidFill>
            <a:prstDash val="solid"/>
          </a:ln>
        </p:spPr>
      </p:sp>
      <p:sp>
        <p:nvSpPr>
          <p:cNvPr id="9" name="Shape 7"/>
          <p:cNvSpPr/>
          <p:nvPr/>
        </p:nvSpPr>
        <p:spPr>
          <a:xfrm>
            <a:off x="8940546" y="2105406"/>
            <a:ext cx="420624" cy="420624"/>
          </a:xfrm>
          <a:prstGeom prst="ellipse">
            <a:avLst/>
          </a:prstGeom>
          <a:solidFill>
            <a:srgbClr val="DD8F1F"/>
          </a:solidFill>
          <a:ln w="25400">
            <a:solidFill>
              <a:srgbClr val="0F1E33"/>
            </a:solidFill>
            <a:prstDash val="solid"/>
          </a:ln>
        </p:spPr>
      </p:sp>
      <p:sp>
        <p:nvSpPr>
          <p:cNvPr id="10" name="Shape 8"/>
          <p:cNvSpPr/>
          <p:nvPr/>
        </p:nvSpPr>
        <p:spPr>
          <a:xfrm>
            <a:off x="8930030" y="917143"/>
            <a:ext cx="336499" cy="336499"/>
          </a:xfrm>
          <a:prstGeom prst="ellipse">
            <a:avLst/>
          </a:prstGeom>
          <a:solidFill>
            <a:srgbClr val="159E84"/>
          </a:solidFill>
          <a:ln w="25400">
            <a:solidFill>
              <a:srgbClr val="0F1E33"/>
            </a:solidFill>
            <a:prstDash val="solid"/>
          </a:ln>
        </p:spPr>
      </p:sp>
      <p:sp>
        <p:nvSpPr>
          <p:cNvPr id="11" name="Text 9"/>
          <p:cNvSpPr/>
          <p:nvPr/>
        </p:nvSpPr>
        <p:spPr>
          <a:xfrm>
            <a:off x="685800" y="1481328"/>
            <a:ext cx="8229600" cy="310896"/>
          </a:xfrm>
          <a:prstGeom prst="rect">
            <a:avLst/>
          </a:prstGeom>
          <a:noFill/>
          <a:ln/>
        </p:spPr>
        <p:txBody>
          <a:bodyPr wrap="square" lIns="0" tIns="0" rIns="0" bIns="0" rtlCol="0" anchor="ctr"/>
          <a:lstStyle/>
          <a:p>
            <a:pPr indent="0" marL="0">
              <a:buNone/>
            </a:pPr>
            <a:r>
              <a:rPr lang="en-US" sz="1300" b="1" spc="400" kern="0" dirty="0">
                <a:solidFill>
                  <a:srgbClr val="6EA8FF"/>
                </a:solidFill>
                <a:latin typeface="Arial" pitchFamily="34" charset="0"/>
                <a:ea typeface="Arial" pitchFamily="34" charset="-122"/>
                <a:cs typeface="Arial" pitchFamily="34" charset="-120"/>
              </a:rPr>
              <a:t>GRAPHS  ×  OPEN KNOWLEDGE FORMAT</a:t>
            </a:r>
            <a:endParaRPr lang="en-US" sz="1300" dirty="0"/>
          </a:p>
        </p:txBody>
      </p:sp>
      <p:sp>
        <p:nvSpPr>
          <p:cNvPr id="12" name="Text 10"/>
          <p:cNvSpPr/>
          <p:nvPr/>
        </p:nvSpPr>
        <p:spPr>
          <a:xfrm>
            <a:off x="640080" y="1828800"/>
            <a:ext cx="10515600" cy="1737360"/>
          </a:xfrm>
          <a:prstGeom prst="rect">
            <a:avLst/>
          </a:prstGeom>
          <a:noFill/>
          <a:ln/>
        </p:spPr>
        <p:txBody>
          <a:bodyPr wrap="square" lIns="0" tIns="0" rIns="0" bIns="0" rtlCol="0" anchor="ctr"/>
          <a:lstStyle/>
          <a:p>
            <a:pPr indent="0" marL="0">
              <a:lnSpc>
                <a:spcPct val="102000"/>
              </a:lnSpc>
              <a:buNone/>
            </a:pPr>
            <a:r>
              <a:rPr lang="en-US" sz="4700" b="1" dirty="0">
                <a:solidFill>
                  <a:srgbClr val="FFFFFF"/>
                </a:solidFill>
                <a:latin typeface="Arial" pitchFamily="34" charset="0"/>
                <a:ea typeface="Arial" pitchFamily="34" charset="-122"/>
                <a:cs typeface="Arial" pitchFamily="34" charset="-120"/>
              </a:rPr>
              <a:t>From Markdown to</a:t>
            </a:r>
            <a:endParaRPr lang="en-US" sz="4700" dirty="0"/>
          </a:p>
          <a:p>
            <a:pPr indent="0" marL="0">
              <a:lnSpc>
                <a:spcPct val="102000"/>
              </a:lnSpc>
              <a:buNone/>
            </a:pPr>
            <a:r>
              <a:rPr lang="en-US" sz="4700" b="1" dirty="0">
                <a:solidFill>
                  <a:srgbClr val="FFFFFF"/>
                </a:solidFill>
                <a:latin typeface="Arial" pitchFamily="34" charset="0"/>
                <a:ea typeface="Arial" pitchFamily="34" charset="-122"/>
                <a:cs typeface="Arial" pitchFamily="34" charset="-120"/>
              </a:rPr>
              <a:t>Knowledge Graph</a:t>
            </a:r>
            <a:endParaRPr lang="en-US" sz="4700" dirty="0"/>
          </a:p>
        </p:txBody>
      </p:sp>
      <p:sp>
        <p:nvSpPr>
          <p:cNvPr id="13" name="Text 11"/>
          <p:cNvSpPr/>
          <p:nvPr/>
        </p:nvSpPr>
        <p:spPr>
          <a:xfrm>
            <a:off x="685800" y="3611880"/>
            <a:ext cx="9601200" cy="365760"/>
          </a:xfrm>
          <a:prstGeom prst="rect">
            <a:avLst/>
          </a:prstGeom>
          <a:noFill/>
          <a:ln/>
        </p:spPr>
        <p:txBody>
          <a:bodyPr wrap="square" lIns="0" tIns="0" rIns="0" bIns="0" rtlCol="0" anchor="ctr"/>
          <a:lstStyle/>
          <a:p>
            <a:pPr indent="0" marL="0">
              <a:buNone/>
            </a:pPr>
            <a:r>
              <a:rPr lang="en-US" sz="1650" dirty="0">
                <a:solidFill>
                  <a:srgbClr val="C7D6EC"/>
                </a:solidFill>
                <a:latin typeface="Arial" pitchFamily="34" charset="0"/>
                <a:ea typeface="Arial" pitchFamily="34" charset="-122"/>
                <a:cs typeface="Arial" pitchFamily="34" charset="-120"/>
              </a:rPr>
              <a:t>Ingesting Google's Open Knowledge Format into Neo4j — and making it earn its keep with GraphRAG</a:t>
            </a:r>
            <a:endParaRPr lang="en-US" sz="1650" dirty="0"/>
          </a:p>
        </p:txBody>
      </p:sp>
      <p:sp>
        <p:nvSpPr>
          <p:cNvPr id="14" name="Shape 12"/>
          <p:cNvSpPr/>
          <p:nvPr/>
        </p:nvSpPr>
        <p:spPr>
          <a:xfrm>
            <a:off x="685800" y="4224528"/>
            <a:ext cx="1266444" cy="365760"/>
          </a:xfrm>
          <a:prstGeom prst="roundRect">
            <a:avLst>
              <a:gd name="adj" fmla="val 50000"/>
            </a:avLst>
          </a:prstGeom>
          <a:solidFill>
            <a:srgbClr val="0F1E33"/>
          </a:solidFill>
          <a:ln w="15240">
            <a:solidFill>
              <a:srgbClr val="DD8F1F"/>
            </a:solidFill>
            <a:prstDash val="solid"/>
          </a:ln>
        </p:spPr>
      </p:sp>
      <p:sp>
        <p:nvSpPr>
          <p:cNvPr id="15" name="Text 13"/>
          <p:cNvSpPr/>
          <p:nvPr/>
        </p:nvSpPr>
        <p:spPr>
          <a:xfrm>
            <a:off x="685800" y="4224528"/>
            <a:ext cx="1266444" cy="365760"/>
          </a:xfrm>
          <a:prstGeom prst="rect">
            <a:avLst/>
          </a:prstGeom>
          <a:noFill/>
          <a:ln/>
        </p:spPr>
        <p:txBody>
          <a:bodyPr wrap="square" lIns="0" tIns="0" rIns="0" bIns="0" rtlCol="0" anchor="ctr"/>
          <a:lstStyle/>
          <a:p>
            <a:pPr algn="ctr" indent="0" marL="0">
              <a:buNone/>
            </a:pPr>
            <a:r>
              <a:rPr lang="en-US" sz="1150" dirty="0">
                <a:solidFill>
                  <a:srgbClr val="DD8F1F"/>
                </a:solidFill>
                <a:latin typeface="Courier New" pitchFamily="34" charset="0"/>
                <a:ea typeface="Courier New" pitchFamily="34" charset="-122"/>
                <a:cs typeface="Courier New" pitchFamily="34" charset="-120"/>
              </a:rPr>
              <a:t>OKF spec v0.2</a:t>
            </a:r>
            <a:endParaRPr lang="en-US" sz="1150" dirty="0"/>
          </a:p>
        </p:txBody>
      </p:sp>
      <p:sp>
        <p:nvSpPr>
          <p:cNvPr id="16" name="Shape 14"/>
          <p:cNvSpPr/>
          <p:nvPr/>
        </p:nvSpPr>
        <p:spPr>
          <a:xfrm>
            <a:off x="2153412" y="4224528"/>
            <a:ext cx="1188720" cy="365760"/>
          </a:xfrm>
          <a:prstGeom prst="roundRect">
            <a:avLst>
              <a:gd name="adj" fmla="val 50000"/>
            </a:avLst>
          </a:prstGeom>
          <a:solidFill>
            <a:srgbClr val="0F1E33"/>
          </a:solidFill>
          <a:ln w="15240">
            <a:solidFill>
              <a:srgbClr val="6EA8FF"/>
            </a:solidFill>
            <a:prstDash val="solid"/>
          </a:ln>
        </p:spPr>
      </p:sp>
      <p:sp>
        <p:nvSpPr>
          <p:cNvPr id="17" name="Text 15"/>
          <p:cNvSpPr/>
          <p:nvPr/>
        </p:nvSpPr>
        <p:spPr>
          <a:xfrm>
            <a:off x="2153412" y="4224528"/>
            <a:ext cx="1188720" cy="365760"/>
          </a:xfrm>
          <a:prstGeom prst="rect">
            <a:avLst/>
          </a:prstGeom>
          <a:noFill/>
          <a:ln/>
        </p:spPr>
        <p:txBody>
          <a:bodyPr wrap="square" lIns="0" tIns="0" rIns="0" bIns="0" rtlCol="0" anchor="ctr"/>
          <a:lstStyle/>
          <a:p>
            <a:pPr algn="ctr" indent="0" marL="0">
              <a:buNone/>
            </a:pPr>
            <a:r>
              <a:rPr lang="en-US" sz="1150" dirty="0">
                <a:solidFill>
                  <a:srgbClr val="6EA8FF"/>
                </a:solidFill>
                <a:latin typeface="Courier New" pitchFamily="34" charset="0"/>
                <a:ea typeface="Courier New" pitchFamily="34" charset="-122"/>
                <a:cs typeface="Courier New" pitchFamily="34" charset="-120"/>
              </a:rPr>
              <a:t>Neo4j 2025.x</a:t>
            </a:r>
            <a:endParaRPr lang="en-US" sz="1150" dirty="0"/>
          </a:p>
        </p:txBody>
      </p:sp>
      <p:sp>
        <p:nvSpPr>
          <p:cNvPr id="18" name="Shape 16"/>
          <p:cNvSpPr/>
          <p:nvPr/>
        </p:nvSpPr>
        <p:spPr>
          <a:xfrm>
            <a:off x="3543300" y="4224528"/>
            <a:ext cx="1732788" cy="365760"/>
          </a:xfrm>
          <a:prstGeom prst="roundRect">
            <a:avLst>
              <a:gd name="adj" fmla="val 50000"/>
            </a:avLst>
          </a:prstGeom>
          <a:solidFill>
            <a:srgbClr val="0F1E33"/>
          </a:solidFill>
          <a:ln w="15240">
            <a:solidFill>
              <a:srgbClr val="159E84"/>
            </a:solidFill>
            <a:prstDash val="solid"/>
          </a:ln>
        </p:spPr>
      </p:sp>
      <p:sp>
        <p:nvSpPr>
          <p:cNvPr id="19" name="Text 17"/>
          <p:cNvSpPr/>
          <p:nvPr/>
        </p:nvSpPr>
        <p:spPr>
          <a:xfrm>
            <a:off x="3543300" y="4224528"/>
            <a:ext cx="1732788" cy="365760"/>
          </a:xfrm>
          <a:prstGeom prst="rect">
            <a:avLst/>
          </a:prstGeom>
          <a:noFill/>
          <a:ln/>
        </p:spPr>
        <p:txBody>
          <a:bodyPr wrap="square" lIns="0" tIns="0" rIns="0" bIns="0" rtlCol="0" anchor="ctr"/>
          <a:lstStyle/>
          <a:p>
            <a:pPr algn="ctr" indent="0" marL="0">
              <a:buNone/>
            </a:pPr>
            <a:r>
              <a:rPr lang="en-US" sz="1150" dirty="0">
                <a:solidFill>
                  <a:srgbClr val="159E84"/>
                </a:solidFill>
                <a:latin typeface="Courier New" pitchFamily="34" charset="0"/>
                <a:ea typeface="Courier New" pitchFamily="34" charset="-122"/>
                <a:cs typeface="Courier New" pitchFamily="34" charset="-120"/>
              </a:rPr>
              <a:t>neo4j-graphrag 1.18</a:t>
            </a:r>
            <a:endParaRPr lang="en-US" sz="1150" dirty="0"/>
          </a:p>
        </p:txBody>
      </p:sp>
      <p:sp>
        <p:nvSpPr>
          <p:cNvPr id="20" name="Text 18"/>
          <p:cNvSpPr/>
          <p:nvPr/>
        </p:nvSpPr>
        <p:spPr>
          <a:xfrm>
            <a:off x="685800" y="5989320"/>
            <a:ext cx="1097280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Will Lyon</a:t>
            </a:r>
            <a:pPr indent="0" marL="0">
              <a:buNone/>
            </a:pPr>
            <a:r>
              <a:rPr lang="en-US" sz="1300" dirty="0">
                <a:solidFill>
                  <a:srgbClr val="8AA0BF"/>
                </a:solidFill>
                <a:latin typeface="Arial" pitchFamily="34" charset="0"/>
                <a:ea typeface="Arial" pitchFamily="34" charset="-122"/>
                <a:cs typeface="Arial" pitchFamily="34" charset="-120"/>
              </a:rPr>
              <a:t>   ·   github.com/johnymontana/neo4j-okf</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2</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Why Google shipped a knowledge format at all</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the knowledge agents need exists — as five different exhausts</a:t>
            </a:r>
            <a:endParaRPr lang="en-US" sz="1350" dirty="0"/>
          </a:p>
        </p:txBody>
      </p:sp>
      <p:pic>
        <p:nvPicPr>
          <p:cNvPr id="7" name="Image 0" descr="/home/claude/neo4j-okf/slides/diagrams/d02_problem.png">    </p:cNvPr>
          <p:cNvPicPr>
            <a:picLocks noChangeAspect="1"/>
          </p:cNvPicPr>
          <p:nvPr/>
        </p:nvPicPr>
        <p:blipFill>
          <a:blip r:embed="rId1"/>
          <a:stretch>
            <a:fillRect/>
          </a:stretch>
        </p:blipFill>
        <p:spPr>
          <a:xfrm>
            <a:off x="504292" y="1481328"/>
            <a:ext cx="11183112" cy="34481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3</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whole talk in one picture</a:t>
            </a:r>
            <a:endParaRPr lang="en-US" sz="3000" dirty="0"/>
          </a:p>
        </p:txBody>
      </p:sp>
      <p:pic>
        <p:nvPicPr>
          <p:cNvPr id="6" name="Image 0" descr="/home/claude/neo4j-okf/slides/diagrams/d01_hero.png">    </p:cNvPr>
          <p:cNvPicPr>
            <a:picLocks noChangeAspect="1"/>
          </p:cNvPicPr>
          <p:nvPr/>
        </p:nvPicPr>
        <p:blipFill>
          <a:blip r:embed="rId1"/>
          <a:stretch>
            <a:fillRect/>
          </a:stretch>
        </p:blipFill>
        <p:spPr>
          <a:xfrm>
            <a:off x="504292" y="1783080"/>
            <a:ext cx="11183112" cy="3727704"/>
          </a:xfrm>
          <a:prstGeom prst="rect">
            <a:avLst/>
          </a:prstGeom>
        </p:spPr>
      </p:pic>
      <p:sp>
        <p:nvSpPr>
          <p:cNvPr id="7" name="Text 4"/>
          <p:cNvSpPr/>
          <p:nvPr/>
        </p:nvSpPr>
        <p:spPr>
          <a:xfrm>
            <a:off x="502920" y="6126480"/>
            <a:ext cx="11155680" cy="292608"/>
          </a:xfrm>
          <a:prstGeom prst="rect">
            <a:avLst/>
          </a:prstGeom>
          <a:noFill/>
          <a:ln/>
        </p:spPr>
        <p:txBody>
          <a:bodyPr wrap="square" lIns="0" tIns="0" rIns="0" bIns="0" rtlCol="0" anchor="ctr"/>
          <a:lstStyle/>
          <a:p>
            <a:pPr algn="ctr" indent="0" marL="0">
              <a:buNone/>
            </a:pPr>
            <a:r>
              <a:rPr lang="en-US" sz="1300" dirty="0">
                <a:solidFill>
                  <a:srgbClr val="5B6B82"/>
                </a:solidFill>
                <a:latin typeface="Courier New" pitchFamily="34" charset="0"/>
                <a:ea typeface="Courier New" pitchFamily="34" charset="-122"/>
                <a:cs typeface="Courier New" pitchFamily="34" charset="-120"/>
              </a:rPr>
              <a:t>files in git  →  deterministic parse  →  property graph  →  Cypher + GraphRAG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4</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OKF in five facts</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github.com/GoogleCloudPlatform/knowledge-catalog · Apache-2.0 · spec v0.2</a:t>
            </a:r>
            <a:endParaRPr lang="en-US" sz="1350" dirty="0"/>
          </a:p>
        </p:txBody>
      </p:sp>
      <p:sp>
        <p:nvSpPr>
          <p:cNvPr id="7" name="Shape 5"/>
          <p:cNvSpPr/>
          <p:nvPr/>
        </p:nvSpPr>
        <p:spPr>
          <a:xfrm>
            <a:off x="640080" y="1709928"/>
            <a:ext cx="310896" cy="310896"/>
          </a:xfrm>
          <a:prstGeom prst="ellipse">
            <a:avLst/>
          </a:prstGeom>
          <a:solidFill>
            <a:srgbClr val="DD8F1F"/>
          </a:solidFill>
          <a:ln/>
        </p:spPr>
      </p:sp>
      <p:sp>
        <p:nvSpPr>
          <p:cNvPr id="8" name="Text 6"/>
          <p:cNvSpPr/>
          <p:nvPr/>
        </p:nvSpPr>
        <p:spPr>
          <a:xfrm>
            <a:off x="640080" y="17099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1097280" y="1691640"/>
            <a:ext cx="10424160" cy="292608"/>
          </a:xfrm>
          <a:prstGeom prst="rect">
            <a:avLst/>
          </a:prstGeom>
          <a:noFill/>
          <a:ln/>
        </p:spPr>
        <p:txBody>
          <a:bodyPr wrap="square" lIns="0" tIns="0" rIns="0" bIns="0" rtlCol="0" anchor="ctr"/>
          <a:lstStyle/>
          <a:p>
            <a:pPr indent="0" marL="0">
              <a:buNone/>
            </a:pPr>
            <a:r>
              <a:rPr lang="en-US" sz="1550" b="1" dirty="0">
                <a:solidFill>
                  <a:srgbClr val="16243B"/>
                </a:solidFill>
                <a:latin typeface="Arial" pitchFamily="34" charset="0"/>
                <a:ea typeface="Arial" pitchFamily="34" charset="-122"/>
                <a:cs typeface="Arial" pitchFamily="34" charset="-120"/>
              </a:rPr>
              <a:t>A bundle is a directory of markdown files — that's the whole runtime</a:t>
            </a:r>
            <a:endParaRPr lang="en-US" sz="1550" dirty="0"/>
          </a:p>
        </p:txBody>
      </p:sp>
      <p:sp>
        <p:nvSpPr>
          <p:cNvPr id="10" name="Text 8"/>
          <p:cNvSpPr/>
          <p:nvPr/>
        </p:nvSpPr>
        <p:spPr>
          <a:xfrm>
            <a:off x="1097280" y="1965960"/>
            <a:ext cx="10424160" cy="566928"/>
          </a:xfrm>
          <a:prstGeom prst="rect">
            <a:avLst/>
          </a:prstGeom>
          <a:noFill/>
          <a:ln/>
        </p:spPr>
        <p:txBody>
          <a:bodyPr wrap="square" lIns="0" tIns="0" rIns="0" bIns="0" rtlCol="0" anchor="ctr"/>
          <a:lstStyle/>
          <a:p>
            <a:pPr indent="0" marL="0">
              <a:buNone/>
            </a:pPr>
            <a:r>
              <a:rPr lang="en-US" sz="1150" dirty="0">
                <a:solidFill>
                  <a:srgbClr val="5B6B82"/>
                </a:solidFill>
                <a:latin typeface="Arial" pitchFamily="34" charset="0"/>
                <a:ea typeface="Arial" pitchFamily="34" charset="-122"/>
                <a:cs typeface="Arial" pitchFamily="34" charset="-120"/>
              </a:rPr>
              <a:t>Concepts (tables, metrics, playbooks, policies…) as files; ship via git, tarball, or a subdir.</a:t>
            </a:r>
            <a:endParaRPr lang="en-US" sz="1150" dirty="0"/>
          </a:p>
        </p:txBody>
      </p:sp>
      <p:sp>
        <p:nvSpPr>
          <p:cNvPr id="11" name="Shape 9"/>
          <p:cNvSpPr/>
          <p:nvPr/>
        </p:nvSpPr>
        <p:spPr>
          <a:xfrm>
            <a:off x="640080" y="2624328"/>
            <a:ext cx="310896" cy="310896"/>
          </a:xfrm>
          <a:prstGeom prst="ellipse">
            <a:avLst/>
          </a:prstGeom>
          <a:solidFill>
            <a:srgbClr val="2D6CDF"/>
          </a:solidFill>
          <a:ln/>
        </p:spPr>
      </p:sp>
      <p:sp>
        <p:nvSpPr>
          <p:cNvPr id="12" name="Text 10"/>
          <p:cNvSpPr/>
          <p:nvPr/>
        </p:nvSpPr>
        <p:spPr>
          <a:xfrm>
            <a:off x="640080" y="26243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3" name="Text 11"/>
          <p:cNvSpPr/>
          <p:nvPr/>
        </p:nvSpPr>
        <p:spPr>
          <a:xfrm>
            <a:off x="1097280" y="2606040"/>
            <a:ext cx="10424160" cy="292608"/>
          </a:xfrm>
          <a:prstGeom prst="rect">
            <a:avLst/>
          </a:prstGeom>
          <a:noFill/>
          <a:ln/>
        </p:spPr>
        <p:txBody>
          <a:bodyPr wrap="square" lIns="0" tIns="0" rIns="0" bIns="0" rtlCol="0" anchor="ctr"/>
          <a:lstStyle/>
          <a:p>
            <a:pPr indent="0" marL="0">
              <a:buNone/>
            </a:pPr>
            <a:r>
              <a:rPr lang="en-US" sz="1550" b="1" dirty="0">
                <a:solidFill>
                  <a:srgbClr val="16243B"/>
                </a:solidFill>
                <a:latin typeface="Arial" pitchFamily="34" charset="0"/>
                <a:ea typeface="Arial" pitchFamily="34" charset="-122"/>
                <a:cs typeface="Arial" pitchFamily="34" charset="-120"/>
              </a:rPr>
              <a:t>One required key: type — everything else is optional families</a:t>
            </a:r>
            <a:endParaRPr lang="en-US" sz="1550" dirty="0"/>
          </a:p>
        </p:txBody>
      </p:sp>
      <p:sp>
        <p:nvSpPr>
          <p:cNvPr id="14" name="Text 12"/>
          <p:cNvSpPr/>
          <p:nvPr/>
        </p:nvSpPr>
        <p:spPr>
          <a:xfrm>
            <a:off x="1097280" y="2880360"/>
            <a:ext cx="10424160" cy="566928"/>
          </a:xfrm>
          <a:prstGeom prst="rect">
            <a:avLst/>
          </a:prstGeom>
          <a:noFill/>
          <a:ln/>
        </p:spPr>
        <p:txBody>
          <a:bodyPr wrap="square" lIns="0" tIns="0" rIns="0" bIns="0" rtlCol="0" anchor="ctr"/>
          <a:lstStyle/>
          <a:p>
            <a:pPr indent="0" marL="0">
              <a:buNone/>
            </a:pPr>
            <a:r>
              <a:rPr lang="en-US" sz="1150" dirty="0">
                <a:solidFill>
                  <a:srgbClr val="5B6B82"/>
                </a:solidFill>
                <a:latin typeface="Arial" pitchFamily="34" charset="0"/>
                <a:ea typeface="Arial" pitchFamily="34" charset="-122"/>
                <a:cs typeface="Arial" pitchFamily="34" charset="-120"/>
              </a:rPr>
              <a:t>No schema registry, no central authority. Consumers MUST tolerate unknown types and keys.</a:t>
            </a:r>
            <a:endParaRPr lang="en-US" sz="1150" dirty="0"/>
          </a:p>
        </p:txBody>
      </p:sp>
      <p:sp>
        <p:nvSpPr>
          <p:cNvPr id="15" name="Shape 13"/>
          <p:cNvSpPr/>
          <p:nvPr/>
        </p:nvSpPr>
        <p:spPr>
          <a:xfrm>
            <a:off x="640080" y="3538728"/>
            <a:ext cx="310896" cy="310896"/>
          </a:xfrm>
          <a:prstGeom prst="ellipse">
            <a:avLst/>
          </a:prstGeom>
          <a:solidFill>
            <a:srgbClr val="2D6CDF"/>
          </a:solidFill>
          <a:ln/>
        </p:spPr>
      </p:sp>
      <p:sp>
        <p:nvSpPr>
          <p:cNvPr id="16" name="Text 14"/>
          <p:cNvSpPr/>
          <p:nvPr/>
        </p:nvSpPr>
        <p:spPr>
          <a:xfrm>
            <a:off x="640080" y="35387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7" name="Text 15"/>
          <p:cNvSpPr/>
          <p:nvPr/>
        </p:nvSpPr>
        <p:spPr>
          <a:xfrm>
            <a:off x="1097280" y="3520440"/>
            <a:ext cx="10424160" cy="292608"/>
          </a:xfrm>
          <a:prstGeom prst="rect">
            <a:avLst/>
          </a:prstGeom>
          <a:noFill/>
          <a:ln/>
        </p:spPr>
        <p:txBody>
          <a:bodyPr wrap="square" lIns="0" tIns="0" rIns="0" bIns="0" rtlCol="0" anchor="ctr"/>
          <a:lstStyle/>
          <a:p>
            <a:pPr indent="0" marL="0">
              <a:buNone/>
            </a:pPr>
            <a:r>
              <a:rPr lang="en-US" sz="1550" b="1" dirty="0">
                <a:solidFill>
                  <a:srgbClr val="16243B"/>
                </a:solidFill>
                <a:latin typeface="Arial" pitchFamily="34" charset="0"/>
                <a:ea typeface="Arial" pitchFamily="34" charset="-122"/>
                <a:cs typeface="Arial" pitchFamily="34" charset="-120"/>
              </a:rPr>
              <a:t>Path = identity · markdown links = relationships</a:t>
            </a:r>
            <a:endParaRPr lang="en-US" sz="1550" dirty="0"/>
          </a:p>
        </p:txBody>
      </p:sp>
      <p:sp>
        <p:nvSpPr>
          <p:cNvPr id="18" name="Text 16"/>
          <p:cNvSpPr/>
          <p:nvPr/>
        </p:nvSpPr>
        <p:spPr>
          <a:xfrm>
            <a:off x="1097280" y="3794760"/>
            <a:ext cx="10424160" cy="566928"/>
          </a:xfrm>
          <a:prstGeom prst="rect">
            <a:avLst/>
          </a:prstGeom>
          <a:noFill/>
          <a:ln/>
        </p:spPr>
        <p:txBody>
          <a:bodyPr wrap="square" lIns="0" tIns="0" rIns="0" bIns="0" rtlCol="0" anchor="ctr"/>
          <a:lstStyle/>
          <a:p>
            <a:pPr indent="0" marL="0">
              <a:buNone/>
            </a:pPr>
            <a:r>
              <a:rPr lang="en-US" sz="1150" dirty="0">
                <a:solidFill>
                  <a:srgbClr val="5B6B82"/>
                </a:solidFill>
                <a:latin typeface="Arial" pitchFamily="34" charset="0"/>
                <a:ea typeface="Arial" pitchFamily="34" charset="-122"/>
                <a:cs typeface="Arial" pitchFamily="34" charset="-120"/>
              </a:rPr>
              <a:t>metrics/gross-margin.md is the id; links carry meaning in surrounding prose. Broken links are legal: not-yet-written knowledge.</a:t>
            </a:r>
            <a:endParaRPr lang="en-US" sz="1150" dirty="0"/>
          </a:p>
        </p:txBody>
      </p:sp>
      <p:sp>
        <p:nvSpPr>
          <p:cNvPr id="19" name="Shape 17"/>
          <p:cNvSpPr/>
          <p:nvPr/>
        </p:nvSpPr>
        <p:spPr>
          <a:xfrm>
            <a:off x="640080" y="4453128"/>
            <a:ext cx="310896" cy="310896"/>
          </a:xfrm>
          <a:prstGeom prst="ellipse">
            <a:avLst/>
          </a:prstGeom>
          <a:solidFill>
            <a:srgbClr val="2F9E57"/>
          </a:solidFill>
          <a:ln/>
        </p:spPr>
      </p:sp>
      <p:sp>
        <p:nvSpPr>
          <p:cNvPr id="20" name="Text 18"/>
          <p:cNvSpPr/>
          <p:nvPr/>
        </p:nvSpPr>
        <p:spPr>
          <a:xfrm>
            <a:off x="640080" y="44531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1" name="Text 19"/>
          <p:cNvSpPr/>
          <p:nvPr/>
        </p:nvSpPr>
        <p:spPr>
          <a:xfrm>
            <a:off x="1097280" y="4434840"/>
            <a:ext cx="10424160" cy="292608"/>
          </a:xfrm>
          <a:prstGeom prst="rect">
            <a:avLst/>
          </a:prstGeom>
          <a:noFill/>
          <a:ln/>
        </p:spPr>
        <p:txBody>
          <a:bodyPr wrap="square" lIns="0" tIns="0" rIns="0" bIns="0" rtlCol="0" anchor="ctr"/>
          <a:lstStyle/>
          <a:p>
            <a:pPr indent="0" marL="0">
              <a:buNone/>
            </a:pPr>
            <a:r>
              <a:rPr lang="en-US" sz="1550" b="1" dirty="0">
                <a:solidFill>
                  <a:srgbClr val="16243B"/>
                </a:solidFill>
                <a:latin typeface="Arial" pitchFamily="34" charset="0"/>
                <a:ea typeface="Arial" pitchFamily="34" charset="-122"/>
                <a:cs typeface="Arial" pitchFamily="34" charset="-120"/>
              </a:rPr>
              <a:t>v0.2 makes trust first-class: sources, generated / verified, status, stale_after</a:t>
            </a:r>
            <a:endParaRPr lang="en-US" sz="1550" dirty="0"/>
          </a:p>
        </p:txBody>
      </p:sp>
      <p:sp>
        <p:nvSpPr>
          <p:cNvPr id="22" name="Text 20"/>
          <p:cNvSpPr/>
          <p:nvPr/>
        </p:nvSpPr>
        <p:spPr>
          <a:xfrm>
            <a:off x="1097280" y="4709160"/>
            <a:ext cx="10424160" cy="566928"/>
          </a:xfrm>
          <a:prstGeom prst="rect">
            <a:avLst/>
          </a:prstGeom>
          <a:noFill/>
          <a:ln/>
        </p:spPr>
        <p:txBody>
          <a:bodyPr wrap="square" lIns="0" tIns="0" rIns="0" bIns="0" rtlCol="0" anchor="ctr"/>
          <a:lstStyle/>
          <a:p>
            <a:pPr indent="0" marL="0">
              <a:buNone/>
            </a:pPr>
            <a:r>
              <a:rPr lang="en-US" sz="1150" dirty="0">
                <a:solidFill>
                  <a:srgbClr val="5B6B82"/>
                </a:solidFill>
                <a:latin typeface="Arial" pitchFamily="34" charset="0"/>
                <a:ea typeface="Arial" pitchFamily="34" charset="-122"/>
                <a:cs typeface="Arial" pitchFamily="34" charset="-120"/>
              </a:rPr>
              <a:t>Built for corpora that agents maintain — provenance, trust tiers, freshness, attested computations.</a:t>
            </a:r>
            <a:endParaRPr lang="en-US" sz="1150" dirty="0"/>
          </a:p>
        </p:txBody>
      </p:sp>
      <p:sp>
        <p:nvSpPr>
          <p:cNvPr id="23" name="Shape 21"/>
          <p:cNvSpPr/>
          <p:nvPr/>
        </p:nvSpPr>
        <p:spPr>
          <a:xfrm>
            <a:off x="640080" y="5367528"/>
            <a:ext cx="310896" cy="310896"/>
          </a:xfrm>
          <a:prstGeom prst="ellipse">
            <a:avLst/>
          </a:prstGeom>
          <a:solidFill>
            <a:srgbClr val="7C5CD6"/>
          </a:solidFill>
          <a:ln/>
        </p:spPr>
      </p:sp>
      <p:sp>
        <p:nvSpPr>
          <p:cNvPr id="24" name="Text 22"/>
          <p:cNvSpPr/>
          <p:nvPr/>
        </p:nvSpPr>
        <p:spPr>
          <a:xfrm>
            <a:off x="640080" y="53675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25" name="Text 23"/>
          <p:cNvSpPr/>
          <p:nvPr/>
        </p:nvSpPr>
        <p:spPr>
          <a:xfrm>
            <a:off x="1097280" y="5349240"/>
            <a:ext cx="10424160" cy="292608"/>
          </a:xfrm>
          <a:prstGeom prst="rect">
            <a:avLst/>
          </a:prstGeom>
          <a:noFill/>
          <a:ln/>
        </p:spPr>
        <p:txBody>
          <a:bodyPr wrap="square" lIns="0" tIns="0" rIns="0" bIns="0" rtlCol="0" anchor="ctr"/>
          <a:lstStyle/>
          <a:p>
            <a:pPr indent="0" marL="0">
              <a:buNone/>
            </a:pPr>
            <a:r>
              <a:rPr lang="en-US" sz="1550" b="1" dirty="0">
                <a:solidFill>
                  <a:srgbClr val="16243B"/>
                </a:solidFill>
                <a:latin typeface="Arial" pitchFamily="34" charset="0"/>
                <a:ea typeface="Arial" pitchFamily="34" charset="-122"/>
                <a:cs typeface="Arial" pitchFamily="34" charset="-120"/>
              </a:rPr>
              <a:t>Format, not platform — producers and consumers swap independently</a:t>
            </a:r>
            <a:endParaRPr lang="en-US" sz="1550" dirty="0"/>
          </a:p>
        </p:txBody>
      </p:sp>
      <p:sp>
        <p:nvSpPr>
          <p:cNvPr id="26" name="Text 24"/>
          <p:cNvSpPr/>
          <p:nvPr/>
        </p:nvSpPr>
        <p:spPr>
          <a:xfrm>
            <a:off x="1097280" y="5623560"/>
            <a:ext cx="10424160" cy="566928"/>
          </a:xfrm>
          <a:prstGeom prst="rect">
            <a:avLst/>
          </a:prstGeom>
          <a:noFill/>
          <a:ln/>
        </p:spPr>
        <p:txBody>
          <a:bodyPr wrap="square" lIns="0" tIns="0" rIns="0" bIns="0" rtlCol="0" anchor="ctr"/>
          <a:lstStyle/>
          <a:p>
            <a:pPr indent="0" marL="0">
              <a:buNone/>
            </a:pPr>
            <a:r>
              <a:rPr lang="en-US" sz="1150" dirty="0">
                <a:solidFill>
                  <a:srgbClr val="5B6B82"/>
                </a:solidFill>
                <a:latin typeface="Arial" pitchFamily="34" charset="0"/>
                <a:ea typeface="Arial" pitchFamily="34" charset="-122"/>
                <a:cs typeface="Arial" pitchFamily="34" charset="-120"/>
              </a:rPr>
              <a:t>Reference producer agent + static graph viewer ship with the repo; GCP Knowledge Catalog ingests OKF.</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5</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Anatomy of a bundle</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unit of distribution: a git repo, a tarball, a subdirectory — files all the way down</a:t>
            </a:r>
            <a:endParaRPr lang="en-US" sz="1350" dirty="0"/>
          </a:p>
        </p:txBody>
      </p:sp>
      <p:pic>
        <p:nvPicPr>
          <p:cNvPr id="7" name="Image 0" descr="/home/claude/neo4j-okf/slides/diagrams/d03a_bundle.png">    </p:cNvPr>
          <p:cNvPicPr>
            <a:picLocks noChangeAspect="1"/>
          </p:cNvPicPr>
          <p:nvPr/>
        </p:nvPicPr>
        <p:blipFill>
          <a:blip r:embed="rId1"/>
          <a:stretch>
            <a:fillRect/>
          </a:stretch>
        </p:blipFill>
        <p:spPr>
          <a:xfrm>
            <a:off x="504292" y="1481328"/>
            <a:ext cx="11183112" cy="4286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6</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Anatomy of a concept</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metrics/gross-margin.md, dissected — every family is optional except type</a:t>
            </a:r>
            <a:endParaRPr lang="en-US" sz="1350" dirty="0"/>
          </a:p>
        </p:txBody>
      </p:sp>
      <p:pic>
        <p:nvPicPr>
          <p:cNvPr id="7" name="Image 0" descr="/home/claude/neo4j-okf/slides/diagrams/d03b_concept.png">    </p:cNvPr>
          <p:cNvPicPr>
            <a:picLocks noChangeAspect="1"/>
          </p:cNvPicPr>
          <p:nvPr/>
        </p:nvPicPr>
        <p:blipFill>
          <a:blip r:embed="rId1"/>
          <a:stretch>
            <a:fillRect/>
          </a:stretch>
        </p:blipFill>
        <p:spPr>
          <a:xfrm>
            <a:off x="1144485" y="1463040"/>
            <a:ext cx="9902725" cy="49926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7</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 · THE FORMAT</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v0.2 trust machine</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four optional frontmatter families — absence is meaningful, never fatal (SPEC §5, §10)</a:t>
            </a:r>
            <a:endParaRPr lang="en-US" sz="1350" dirty="0"/>
          </a:p>
        </p:txBody>
      </p:sp>
      <p:pic>
        <p:nvPicPr>
          <p:cNvPr id="7" name="Image 0" descr="/home/claude/neo4j-okf/slides/diagrams/d04_trust.png">    </p:cNvPr>
          <p:cNvPicPr>
            <a:picLocks noChangeAspect="1"/>
          </p:cNvPicPr>
          <p:nvPr/>
        </p:nvPicPr>
        <p:blipFill>
          <a:blip r:embed="rId1"/>
          <a:stretch>
            <a:fillRect/>
          </a:stretch>
        </p:blipFill>
        <p:spPr>
          <a:xfrm>
            <a:off x="504292" y="1481328"/>
            <a:ext cx="11183112" cy="41004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8</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A bundle is already a graph</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Google's own framing: “graph-shaped, not just tree-shaped” — every bundle even ships a static viz.html</a:t>
            </a:r>
            <a:endParaRPr lang="en-US" sz="1350" dirty="0"/>
          </a:p>
        </p:txBody>
      </p:sp>
      <p:pic>
        <p:nvPicPr>
          <p:cNvPr id="7" name="Image 0" descr="/home/claude/neo4j-okf/slides/diagrams/d05_implicit.png">    </p:cNvPr>
          <p:cNvPicPr>
            <a:picLocks noChangeAspect="1"/>
          </p:cNvPicPr>
          <p:nvPr/>
        </p:nvPicPr>
        <p:blipFill>
          <a:blip r:embed="rId1"/>
          <a:stretch>
            <a:fillRect/>
          </a:stretch>
        </p:blipFill>
        <p:spPr>
          <a:xfrm>
            <a:off x="504292" y="1481328"/>
            <a:ext cx="11183112" cy="38208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9</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Why materialize it in a database</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viz.html browses one bundle beautifully — everything on the right is a database job</a:t>
            </a:r>
            <a:endParaRPr lang="en-US" sz="1350" dirty="0"/>
          </a:p>
        </p:txBody>
      </p:sp>
      <p:pic>
        <p:nvPicPr>
          <p:cNvPr id="7" name="Image 0" descr="/home/claude/neo4j-okf/slides/diagrams/d12_viewer_vs_graph.png">    </p:cNvPr>
          <p:cNvPicPr>
            <a:picLocks noChangeAspect="1"/>
          </p:cNvPicPr>
          <p:nvPr/>
        </p:nvPicPr>
        <p:blipFill>
          <a:blip r:embed="rId1"/>
          <a:stretch>
            <a:fillRect/>
          </a:stretch>
        </p:blipFill>
        <p:spPr>
          <a:xfrm>
            <a:off x="504292" y="1481328"/>
            <a:ext cx="11183112" cy="34481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10</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graph model</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structural + provenance + lexical layers in one property graph — plain Cypher (APOC only in the optional extraction appendix)</a:t>
            </a:r>
            <a:endParaRPr lang="en-US" sz="1350" dirty="0"/>
          </a:p>
        </p:txBody>
      </p:sp>
      <p:pic>
        <p:nvPicPr>
          <p:cNvPr id="7" name="Image 0" descr="/home/claude/neo4j-okf/slides/diagrams/d07_schema.png">    </p:cNvPr>
          <p:cNvPicPr>
            <a:picLocks noChangeAspect="1"/>
          </p:cNvPicPr>
          <p:nvPr/>
        </p:nvPicPr>
        <p:blipFill>
          <a:blip r:embed="rId1"/>
          <a:stretch>
            <a:fillRect/>
          </a:stretch>
        </p:blipFill>
        <p:spPr>
          <a:xfrm>
            <a:off x="1295248" y="1463040"/>
            <a:ext cx="9601200" cy="49926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11</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mapping, construct by construct</a:t>
            </a:r>
            <a:endParaRPr lang="en-US" sz="3000" dirty="0"/>
          </a:p>
        </p:txBody>
      </p:sp>
      <p:pic>
        <p:nvPicPr>
          <p:cNvPr id="6" name="Image 0" descr="/home/claude/neo4j-okf/slides/diagrams/d06_mapping.png">    </p:cNvPr>
          <p:cNvPicPr>
            <a:picLocks noChangeAspect="1"/>
          </p:cNvPicPr>
          <p:nvPr/>
        </p:nvPicPr>
        <p:blipFill>
          <a:blip r:embed="rId1"/>
          <a:stretch>
            <a:fillRect/>
          </a:stretch>
        </p:blipFill>
        <p:spPr>
          <a:xfrm>
            <a:off x="704041" y="1225296"/>
            <a:ext cx="10783614" cy="5212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12</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Five decisions that earn their keep later</a:t>
            </a:r>
            <a:endParaRPr lang="en-US" sz="3000" dirty="0"/>
          </a:p>
        </p:txBody>
      </p:sp>
      <p:sp>
        <p:nvSpPr>
          <p:cNvPr id="6" name="Shape 4"/>
          <p:cNvSpPr/>
          <p:nvPr/>
        </p:nvSpPr>
        <p:spPr>
          <a:xfrm>
            <a:off x="566928" y="1572768"/>
            <a:ext cx="310896" cy="310896"/>
          </a:xfrm>
          <a:prstGeom prst="ellipse">
            <a:avLst/>
          </a:prstGeom>
          <a:solidFill>
            <a:srgbClr val="159E84"/>
          </a:solidFill>
          <a:ln/>
        </p:spPr>
      </p:sp>
      <p:sp>
        <p:nvSpPr>
          <p:cNvPr id="7" name="Text 5"/>
          <p:cNvSpPr/>
          <p:nvPr/>
        </p:nvSpPr>
        <p:spPr>
          <a:xfrm>
            <a:off x="566928" y="1572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8" name="Text 6"/>
          <p:cNvSpPr/>
          <p:nvPr/>
        </p:nvSpPr>
        <p:spPr>
          <a:xfrm>
            <a:off x="1024128" y="1554480"/>
            <a:ext cx="5486400" cy="292608"/>
          </a:xfrm>
          <a:prstGeom prst="rect">
            <a:avLst/>
          </a:prstGeom>
          <a:noFill/>
          <a:ln/>
        </p:spPr>
        <p:txBody>
          <a:bodyPr wrap="square" lIns="0" tIns="0" rIns="0" bIns="0" rtlCol="0" anchor="ctr"/>
          <a:lstStyle/>
          <a:p>
            <a:pPr indent="0" marL="0">
              <a:buNone/>
            </a:pPr>
            <a:r>
              <a:rPr lang="en-US" sz="1450" b="1" dirty="0">
                <a:solidFill>
                  <a:srgbClr val="16243B"/>
                </a:solidFill>
                <a:latin typeface="Arial" pitchFamily="34" charset="0"/>
                <a:ea typeface="Arial" pitchFamily="34" charset="-122"/>
                <a:cs typeface="Arial" pitchFamily="34" charset="-120"/>
              </a:rPr>
              <a:t>Sections, not fixed-size chunks</a:t>
            </a:r>
            <a:endParaRPr lang="en-US" sz="1450" dirty="0"/>
          </a:p>
        </p:txBody>
      </p:sp>
      <p:sp>
        <p:nvSpPr>
          <p:cNvPr id="9" name="Text 7"/>
          <p:cNvSpPr/>
          <p:nvPr/>
        </p:nvSpPr>
        <p:spPr>
          <a:xfrm>
            <a:off x="1024128" y="1828800"/>
            <a:ext cx="5486400" cy="566928"/>
          </a:xfrm>
          <a:prstGeom prst="rect">
            <a:avLst/>
          </a:prstGeom>
          <a:noFill/>
          <a:ln/>
        </p:spPr>
        <p:txBody>
          <a:bodyPr wrap="square" lIns="0" tIns="0" rIns="0" bIns="0" rtlCol="0" anchor="ctr"/>
          <a:lstStyle/>
          <a:p>
            <a:pPr indent="0" marL="0">
              <a:buNone/>
            </a:pPr>
            <a:r>
              <a:rPr lang="en-US" sz="1100" dirty="0">
                <a:solidFill>
                  <a:srgbClr val="5B6B82"/>
                </a:solidFill>
                <a:latin typeface="Arial" pitchFamily="34" charset="0"/>
                <a:ea typeface="Arial" pitchFamily="34" charset="-122"/>
                <a:cs typeface="Arial" pitchFamily="34" charset="-120"/>
              </a:rPr>
              <a:t>h1 headings are semantic retrieval units (fence-aware splitting; long sections split at paragraphs).</a:t>
            </a:r>
            <a:endParaRPr lang="en-US" sz="1100" dirty="0"/>
          </a:p>
        </p:txBody>
      </p:sp>
      <p:sp>
        <p:nvSpPr>
          <p:cNvPr id="10" name="Shape 8"/>
          <p:cNvSpPr/>
          <p:nvPr/>
        </p:nvSpPr>
        <p:spPr>
          <a:xfrm>
            <a:off x="566928" y="2514600"/>
            <a:ext cx="310896" cy="310896"/>
          </a:xfrm>
          <a:prstGeom prst="ellipse">
            <a:avLst/>
          </a:prstGeom>
          <a:solidFill>
            <a:srgbClr val="2D6CDF"/>
          </a:solidFill>
          <a:ln/>
        </p:spPr>
      </p:sp>
      <p:sp>
        <p:nvSpPr>
          <p:cNvPr id="11" name="Text 9"/>
          <p:cNvSpPr/>
          <p:nvPr/>
        </p:nvSpPr>
        <p:spPr>
          <a:xfrm>
            <a:off x="566928" y="251460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2" name="Text 10"/>
          <p:cNvSpPr/>
          <p:nvPr/>
        </p:nvSpPr>
        <p:spPr>
          <a:xfrm>
            <a:off x="1024128" y="2496312"/>
            <a:ext cx="5486400" cy="292608"/>
          </a:xfrm>
          <a:prstGeom prst="rect">
            <a:avLst/>
          </a:prstGeom>
          <a:noFill/>
          <a:ln/>
        </p:spPr>
        <p:txBody>
          <a:bodyPr wrap="square" lIns="0" tIns="0" rIns="0" bIns="0" rtlCol="0" anchor="ctr"/>
          <a:lstStyle/>
          <a:p>
            <a:pPr indent="0" marL="0">
              <a:buNone/>
            </a:pPr>
            <a:r>
              <a:rPr lang="en-US" sz="1450" b="1" dirty="0">
                <a:solidFill>
                  <a:srgbClr val="16243B"/>
                </a:solidFill>
                <a:latin typeface="Arial" pitchFamily="34" charset="0"/>
                <a:ea typeface="Arial" pitchFamily="34" charset="-122"/>
                <a:cs typeface="Arial" pitchFamily="34" charset="-120"/>
              </a:rPr>
              <a:t>Type strings → secondary labels</a:t>
            </a:r>
            <a:endParaRPr lang="en-US" sz="1450" dirty="0"/>
          </a:p>
        </p:txBody>
      </p:sp>
      <p:sp>
        <p:nvSpPr>
          <p:cNvPr id="13" name="Text 11"/>
          <p:cNvSpPr/>
          <p:nvPr/>
        </p:nvSpPr>
        <p:spPr>
          <a:xfrm>
            <a:off x="1024128" y="2770632"/>
            <a:ext cx="5486400" cy="566928"/>
          </a:xfrm>
          <a:prstGeom prst="rect">
            <a:avLst/>
          </a:prstGeom>
          <a:noFill/>
          <a:ln/>
        </p:spPr>
        <p:txBody>
          <a:bodyPr wrap="square" lIns="0" tIns="0" rIns="0" bIns="0" rtlCol="0" anchor="ctr"/>
          <a:lstStyle/>
          <a:p>
            <a:pPr indent="0" marL="0">
              <a:buNone/>
            </a:pPr>
            <a:r>
              <a:rPr lang="en-US" sz="1100" dirty="0">
                <a:solidFill>
                  <a:srgbClr val="5B6B82"/>
                </a:solidFill>
                <a:latin typeface="Arial" pitchFamily="34" charset="0"/>
                <a:ea typeface="Arial" pitchFamily="34" charset="-122"/>
                <a:cs typeface="Arial" pitchFamily="34" charset="-120"/>
              </a:rPr>
              <a:t>“BigQuery Table” → :BigQueryTable — label-scoped Cypher + index locality, original kept in c.type.</a:t>
            </a:r>
            <a:endParaRPr lang="en-US" sz="1100" dirty="0"/>
          </a:p>
        </p:txBody>
      </p:sp>
      <p:sp>
        <p:nvSpPr>
          <p:cNvPr id="14" name="Shape 12"/>
          <p:cNvSpPr/>
          <p:nvPr/>
        </p:nvSpPr>
        <p:spPr>
          <a:xfrm>
            <a:off x="566928" y="3456432"/>
            <a:ext cx="310896" cy="310896"/>
          </a:xfrm>
          <a:prstGeom prst="ellipse">
            <a:avLst/>
          </a:prstGeom>
          <a:solidFill>
            <a:srgbClr val="2F9E57"/>
          </a:solidFill>
          <a:ln/>
        </p:spPr>
      </p:sp>
      <p:sp>
        <p:nvSpPr>
          <p:cNvPr id="15" name="Text 13"/>
          <p:cNvSpPr/>
          <p:nvPr/>
        </p:nvSpPr>
        <p:spPr>
          <a:xfrm>
            <a:off x="566928" y="34564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6" name="Text 14"/>
          <p:cNvSpPr/>
          <p:nvPr/>
        </p:nvSpPr>
        <p:spPr>
          <a:xfrm>
            <a:off x="1024128" y="3438144"/>
            <a:ext cx="5486400" cy="292608"/>
          </a:xfrm>
          <a:prstGeom prst="rect">
            <a:avLst/>
          </a:prstGeom>
          <a:noFill/>
          <a:ln/>
        </p:spPr>
        <p:txBody>
          <a:bodyPr wrap="square" lIns="0" tIns="0" rIns="0" bIns="0" rtlCol="0" anchor="ctr"/>
          <a:lstStyle/>
          <a:p>
            <a:pPr indent="0" marL="0">
              <a:buNone/>
            </a:pPr>
            <a:r>
              <a:rPr lang="en-US" sz="1450" b="1" dirty="0">
                <a:solidFill>
                  <a:srgbClr val="16243B"/>
                </a:solidFill>
                <a:latin typeface="Arial" pitchFamily="34" charset="0"/>
                <a:ea typeface="Arial" pitchFamily="34" charset="-122"/>
                <a:cs typeface="Arial" pitchFamily="34" charset="-120"/>
              </a:rPr>
              <a:t>Trust tier: derived AND materialized</a:t>
            </a:r>
            <a:endParaRPr lang="en-US" sz="1450" dirty="0"/>
          </a:p>
        </p:txBody>
      </p:sp>
      <p:sp>
        <p:nvSpPr>
          <p:cNvPr id="17" name="Text 15"/>
          <p:cNvSpPr/>
          <p:nvPr/>
        </p:nvSpPr>
        <p:spPr>
          <a:xfrm>
            <a:off x="1024128" y="3712464"/>
            <a:ext cx="5486400" cy="566928"/>
          </a:xfrm>
          <a:prstGeom prst="rect">
            <a:avLst/>
          </a:prstGeom>
          <a:noFill/>
          <a:ln/>
        </p:spPr>
        <p:txBody>
          <a:bodyPr wrap="square" lIns="0" tIns="0" rIns="0" bIns="0" rtlCol="0" anchor="ctr"/>
          <a:lstStyle/>
          <a:p>
            <a:pPr indent="0" marL="0">
              <a:buNone/>
            </a:pPr>
            <a:r>
              <a:rPr lang="en-US" sz="1100" dirty="0">
                <a:solidFill>
                  <a:srgbClr val="5B6B82"/>
                </a:solidFill>
                <a:latin typeface="Arial" pitchFamily="34" charset="0"/>
                <a:ea typeface="Arial" pitchFamily="34" charset="-122"/>
                <a:cs typeface="Arial" pitchFamily="34" charset="-120"/>
              </a:rPr>
              <a:t>The CASE derivation is the living definition; the property is the cheap filter. Both shown right.</a:t>
            </a:r>
            <a:endParaRPr lang="en-US" sz="1100" dirty="0"/>
          </a:p>
        </p:txBody>
      </p:sp>
      <p:sp>
        <p:nvSpPr>
          <p:cNvPr id="18" name="Shape 16"/>
          <p:cNvSpPr/>
          <p:nvPr/>
        </p:nvSpPr>
        <p:spPr>
          <a:xfrm>
            <a:off x="566928" y="4398264"/>
            <a:ext cx="310896" cy="310896"/>
          </a:xfrm>
          <a:prstGeom prst="ellipse">
            <a:avLst/>
          </a:prstGeom>
          <a:solidFill>
            <a:srgbClr val="7C5CD6"/>
          </a:solidFill>
          <a:ln/>
        </p:spPr>
      </p:sp>
      <p:sp>
        <p:nvSpPr>
          <p:cNvPr id="19" name="Text 17"/>
          <p:cNvSpPr/>
          <p:nvPr/>
        </p:nvSpPr>
        <p:spPr>
          <a:xfrm>
            <a:off x="566928" y="439826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0" name="Text 18"/>
          <p:cNvSpPr/>
          <p:nvPr/>
        </p:nvSpPr>
        <p:spPr>
          <a:xfrm>
            <a:off x="1024128" y="4379976"/>
            <a:ext cx="5486400" cy="292608"/>
          </a:xfrm>
          <a:prstGeom prst="rect">
            <a:avLst/>
          </a:prstGeom>
          <a:noFill/>
          <a:ln/>
        </p:spPr>
        <p:txBody>
          <a:bodyPr wrap="square" lIns="0" tIns="0" rIns="0" bIns="0" rtlCol="0" anchor="ctr"/>
          <a:lstStyle/>
          <a:p>
            <a:pPr indent="0" marL="0">
              <a:buNone/>
            </a:pPr>
            <a:r>
              <a:rPr lang="en-US" sz="1450" b="1" dirty="0">
                <a:solidFill>
                  <a:srgbClr val="16243B"/>
                </a:solidFill>
                <a:latin typeface="Arial" pitchFamily="34" charset="0"/>
                <a:ea typeface="Arial" pitchFamily="34" charset="-122"/>
                <a:cs typeface="Arial" pitchFamily="34" charset="-120"/>
              </a:rPr>
              <a:t>Unknown frontmatter survives</a:t>
            </a:r>
            <a:endParaRPr lang="en-US" sz="1450" dirty="0"/>
          </a:p>
        </p:txBody>
      </p:sp>
      <p:sp>
        <p:nvSpPr>
          <p:cNvPr id="21" name="Text 19"/>
          <p:cNvSpPr/>
          <p:nvPr/>
        </p:nvSpPr>
        <p:spPr>
          <a:xfrm>
            <a:off x="1024128" y="4654296"/>
            <a:ext cx="5486400" cy="566928"/>
          </a:xfrm>
          <a:prstGeom prst="rect">
            <a:avLst/>
          </a:prstGeom>
          <a:noFill/>
          <a:ln/>
        </p:spPr>
        <p:txBody>
          <a:bodyPr wrap="square" lIns="0" tIns="0" rIns="0" bIns="0" rtlCol="0" anchor="ctr"/>
          <a:lstStyle/>
          <a:p>
            <a:pPr indent="0" marL="0">
              <a:buNone/>
            </a:pPr>
            <a:r>
              <a:rPr lang="en-US" sz="1100" dirty="0">
                <a:solidFill>
                  <a:srgbClr val="5B6B82"/>
                </a:solidFill>
                <a:latin typeface="Arial" pitchFamily="34" charset="0"/>
                <a:ea typeface="Arial" pitchFamily="34" charset="-122"/>
                <a:cs typeface="Arial" pitchFamily="34" charset="-120"/>
              </a:rPr>
              <a:t>Spec: consumers MUST NOT reject; SHOULD round-trip. Extra keys → extra_frontmatter JSON (acme ships a not: field!).</a:t>
            </a:r>
            <a:endParaRPr lang="en-US" sz="1100" dirty="0"/>
          </a:p>
        </p:txBody>
      </p:sp>
      <p:sp>
        <p:nvSpPr>
          <p:cNvPr id="22" name="Shape 20"/>
          <p:cNvSpPr/>
          <p:nvPr/>
        </p:nvSpPr>
        <p:spPr>
          <a:xfrm>
            <a:off x="566928" y="5340096"/>
            <a:ext cx="310896" cy="310896"/>
          </a:xfrm>
          <a:prstGeom prst="ellipse">
            <a:avLst/>
          </a:prstGeom>
          <a:solidFill>
            <a:srgbClr val="DD8F1F"/>
          </a:solidFill>
          <a:ln/>
        </p:spPr>
      </p:sp>
      <p:sp>
        <p:nvSpPr>
          <p:cNvPr id="23" name="Text 21"/>
          <p:cNvSpPr/>
          <p:nvPr/>
        </p:nvSpPr>
        <p:spPr>
          <a:xfrm>
            <a:off x="566928" y="53400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24" name="Text 22"/>
          <p:cNvSpPr/>
          <p:nvPr/>
        </p:nvSpPr>
        <p:spPr>
          <a:xfrm>
            <a:off x="1024128" y="5321808"/>
            <a:ext cx="5486400" cy="292608"/>
          </a:xfrm>
          <a:prstGeom prst="rect">
            <a:avLst/>
          </a:prstGeom>
          <a:noFill/>
          <a:ln/>
        </p:spPr>
        <p:txBody>
          <a:bodyPr wrap="square" lIns="0" tIns="0" rIns="0" bIns="0" rtlCol="0" anchor="ctr"/>
          <a:lstStyle/>
          <a:p>
            <a:pPr indent="0" marL="0">
              <a:buNone/>
            </a:pPr>
            <a:r>
              <a:rPr lang="en-US" sz="1450" b="1" dirty="0">
                <a:solidFill>
                  <a:srgbClr val="16243B"/>
                </a:solidFill>
                <a:latin typeface="Arial" pitchFamily="34" charset="0"/>
                <a:ea typeface="Arial" pitchFamily="34" charset="-122"/>
                <a:cs typeface="Arial" pitchFamily="34" charset="-120"/>
              </a:rPr>
              <a:t>Ingestion is idempotent</a:t>
            </a:r>
            <a:endParaRPr lang="en-US" sz="1450" dirty="0"/>
          </a:p>
        </p:txBody>
      </p:sp>
      <p:sp>
        <p:nvSpPr>
          <p:cNvPr id="25" name="Text 23"/>
          <p:cNvSpPr/>
          <p:nvPr/>
        </p:nvSpPr>
        <p:spPr>
          <a:xfrm>
            <a:off x="1024128" y="5596128"/>
            <a:ext cx="5486400" cy="566928"/>
          </a:xfrm>
          <a:prstGeom prst="rect">
            <a:avLst/>
          </a:prstGeom>
          <a:noFill/>
          <a:ln/>
        </p:spPr>
        <p:txBody>
          <a:bodyPr wrap="square" lIns="0" tIns="0" rIns="0" bIns="0" rtlCol="0" anchor="ctr"/>
          <a:lstStyle/>
          <a:p>
            <a:pPr indent="0" marL="0">
              <a:buNone/>
            </a:pPr>
            <a:r>
              <a:rPr lang="en-US" sz="1100" dirty="0">
                <a:solidFill>
                  <a:srgbClr val="5B6B82"/>
                </a:solidFill>
                <a:latin typeface="Arial" pitchFamily="34" charset="0"/>
                <a:ea typeface="Arial" pitchFamily="34" charset="-122"/>
                <a:cs typeface="Arial" pitchFamily="34" charset="-120"/>
              </a:rPr>
              <a:t>MERGE on uid everywhere; re-running a bundle is a sync, not a duplicate. reset(bundle) scopes deletes.</a:t>
            </a:r>
            <a:endParaRPr lang="en-US" sz="1100" dirty="0"/>
          </a:p>
        </p:txBody>
      </p:sp>
      <p:sp>
        <p:nvSpPr>
          <p:cNvPr id="26" name="Shape 24"/>
          <p:cNvSpPr/>
          <p:nvPr/>
        </p:nvSpPr>
        <p:spPr>
          <a:xfrm>
            <a:off x="6812280" y="1554480"/>
            <a:ext cx="4873752" cy="2542032"/>
          </a:xfrm>
          <a:prstGeom prst="roundRect">
            <a:avLst>
              <a:gd name="adj" fmla="val 3237"/>
            </a:avLst>
          </a:prstGeom>
          <a:solidFill>
            <a:srgbClr val="101826"/>
          </a:solidFill>
          <a:ln/>
        </p:spPr>
      </p:sp>
      <p:sp>
        <p:nvSpPr>
          <p:cNvPr id="27" name="Text 25"/>
          <p:cNvSpPr/>
          <p:nvPr/>
        </p:nvSpPr>
        <p:spPr>
          <a:xfrm>
            <a:off x="7013448" y="1682496"/>
            <a:ext cx="4471416" cy="2286000"/>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trust tier, derived live (SPEC §5.3)
</a:t>
            </a:r>
            <a:pPr indent="0" marL="0">
              <a:lnSpc>
                <a:spcPct val="112000"/>
              </a:lnSpc>
              <a:buNone/>
            </a:pPr>
            <a:r>
              <a:rPr lang="en-US" sz="1100" dirty="0">
                <a:solidFill>
                  <a:srgbClr val="D7E3F4"/>
                </a:solidFill>
                <a:latin typeface="Courier New" pitchFamily="34" charset="0"/>
                <a:ea typeface="Courier New" pitchFamily="34" charset="-122"/>
                <a:cs typeface="Courier New" pitchFamily="34" charset="-120"/>
              </a:rPr>
              <a:t>MATCH (c:Concept)</a:t>
            </a:r>
            <a:endParaRPr lang="en-US" sz="1050" dirty="0"/>
          </a:p>
          <a:p>
            <a:pPr indent="0" marL="0">
              <a:lnSpc>
                <a:spcPct val="112000"/>
              </a:lnSpc>
              <a:buNone/>
            </a:pPr>
            <a:r>
              <a:rPr lang="en-US" sz="1100" dirty="0">
                <a:solidFill>
                  <a:srgbClr val="D7E3F4"/>
                </a:solidFill>
                <a:latin typeface="Courier New" pitchFamily="34" charset="0"/>
                <a:ea typeface="Courier New" pitchFamily="34" charset="-122"/>
                <a:cs typeface="Courier New" pitchFamily="34" charset="-120"/>
              </a:rPr>
              <a:t>OPTIONAL MATCH (c)-[v:VERIFIED_BY]-&gt;(a:Actor)</a:t>
            </a:r>
            <a:endParaRPr lang="en-US" sz="1050" dirty="0"/>
          </a:p>
          <a:p>
            <a:pPr indent="0" marL="0">
              <a:lnSpc>
                <a:spcPct val="112000"/>
              </a:lnSpc>
              <a:buNone/>
            </a:pPr>
            <a:r>
              <a:rPr lang="en-US" sz="1100" dirty="0">
                <a:solidFill>
                  <a:srgbClr val="D7E3F4"/>
                </a:solidFill>
                <a:latin typeface="Courier New" pitchFamily="34" charset="0"/>
                <a:ea typeface="Courier New" pitchFamily="34" charset="-122"/>
                <a:cs typeface="Courier New" pitchFamily="34" charset="-120"/>
              </a:rPr>
              <a:t>WITH c, collect(a.kind) AS kinds</a:t>
            </a:r>
            <a:endParaRPr lang="en-US" sz="1050" dirty="0"/>
          </a:p>
          <a:p>
            <a:pPr indent="0" marL="0">
              <a:lnSpc>
                <a:spcPct val="112000"/>
              </a:lnSpc>
              <a:buNone/>
            </a:pPr>
            <a:r>
              <a:rPr lang="en-US" sz="1100" dirty="0">
                <a:solidFill>
                  <a:srgbClr val="F2CC8F"/>
                </a:solidFill>
                <a:latin typeface="Courier New" pitchFamily="34" charset="0"/>
                <a:ea typeface="Courier New" pitchFamily="34" charset="-122"/>
                <a:cs typeface="Courier New" pitchFamily="34" charset="-120"/>
              </a:rPr>
              <a:t>RETURN CASE</a:t>
            </a:r>
            <a:endParaRPr lang="en-US" sz="1050" dirty="0"/>
          </a:p>
          <a:p>
            <a:pPr indent="0" marL="0">
              <a:lnSpc>
                <a:spcPct val="112000"/>
              </a:lnSpc>
              <a:buNone/>
            </a:pPr>
            <a:r>
              <a:rPr lang="en-US" sz="1100" dirty="0">
                <a:solidFill>
                  <a:srgbClr val="8FD3B6"/>
                </a:solidFill>
                <a:latin typeface="Courier New" pitchFamily="34" charset="0"/>
                <a:ea typeface="Courier New" pitchFamily="34" charset="-122"/>
                <a:cs typeface="Courier New" pitchFamily="34" charset="-120"/>
              </a:rPr>
              <a:t>  WHEN size(kinds) = 0    THEN 'unverified'</a:t>
            </a:r>
            <a:endParaRPr lang="en-US" sz="1050" dirty="0"/>
          </a:p>
          <a:p>
            <a:pPr indent="0" marL="0">
              <a:lnSpc>
                <a:spcPct val="112000"/>
              </a:lnSpc>
              <a:buNone/>
            </a:pPr>
            <a:r>
              <a:rPr lang="en-US" sz="1100" dirty="0">
                <a:solidFill>
                  <a:srgbClr val="8FD3B6"/>
                </a:solidFill>
                <a:latin typeface="Courier New" pitchFamily="34" charset="0"/>
                <a:ea typeface="Courier New" pitchFamily="34" charset="-122"/>
                <a:cs typeface="Courier New" pitchFamily="34" charset="-120"/>
              </a:rPr>
              <a:t>  WHEN 'human' IN kinds   THEN 'human-reviewed'</a:t>
            </a:r>
            <a:endParaRPr lang="en-US" sz="1050" dirty="0"/>
          </a:p>
          <a:p>
            <a:pPr indent="0" marL="0">
              <a:lnSpc>
                <a:spcPct val="112000"/>
              </a:lnSpc>
              <a:buNone/>
            </a:pPr>
            <a:r>
              <a:rPr lang="en-US" sz="1100" dirty="0">
                <a:solidFill>
                  <a:srgbClr val="8FD3B6"/>
                </a:solidFill>
                <a:latin typeface="Courier New" pitchFamily="34" charset="0"/>
                <a:ea typeface="Courier New" pitchFamily="34" charset="-122"/>
                <a:cs typeface="Courier New" pitchFamily="34" charset="-120"/>
              </a:rPr>
              <a:t>  ELSE 'machine-confirmed'</a:t>
            </a:r>
            <a:endParaRPr lang="en-US" sz="1050" dirty="0"/>
          </a:p>
          <a:p>
            <a:pPr indent="0" marL="0">
              <a:lnSpc>
                <a:spcPct val="112000"/>
              </a:lnSpc>
              <a:buNone/>
            </a:pPr>
            <a:r>
              <a:rPr lang="en-US" sz="1100" dirty="0">
                <a:solidFill>
                  <a:srgbClr val="F2CC8F"/>
                </a:solidFill>
                <a:latin typeface="Courier New" pitchFamily="34" charset="0"/>
                <a:ea typeface="Courier New" pitchFamily="34" charset="-122"/>
                <a:cs typeface="Courier New" pitchFamily="34" charset="-120"/>
              </a:rPr>
              <a:t>END AS trust_tier, count(*) AS n</a:t>
            </a:r>
            <a:endParaRPr lang="en-US" sz="1050" dirty="0"/>
          </a:p>
        </p:txBody>
      </p:sp>
      <p:sp>
        <p:nvSpPr>
          <p:cNvPr id="28" name="Shape 26"/>
          <p:cNvSpPr/>
          <p:nvPr/>
        </p:nvSpPr>
        <p:spPr>
          <a:xfrm>
            <a:off x="6812280" y="4315968"/>
            <a:ext cx="4873752" cy="1371600"/>
          </a:xfrm>
          <a:prstGeom prst="roundRect">
            <a:avLst>
              <a:gd name="adj" fmla="val 6000"/>
            </a:avLst>
          </a:prstGeom>
          <a:solidFill>
            <a:srgbClr val="101826"/>
          </a:solidFill>
          <a:ln/>
        </p:spPr>
      </p:sp>
      <p:sp>
        <p:nvSpPr>
          <p:cNvPr id="29" name="Text 27"/>
          <p:cNvSpPr/>
          <p:nvPr/>
        </p:nvSpPr>
        <p:spPr>
          <a:xfrm>
            <a:off x="7013448" y="4443984"/>
            <a:ext cx="4471416" cy="1115568"/>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staleness is a date comparison (§5.5)
</a:t>
            </a:r>
            <a:pPr indent="0" marL="0">
              <a:lnSpc>
                <a:spcPct val="112000"/>
              </a:lnSpc>
              <a:buNone/>
            </a:pPr>
            <a:r>
              <a:rPr lang="en-US" sz="1100" dirty="0">
                <a:solidFill>
                  <a:srgbClr val="D7E3F4"/>
                </a:solidFill>
                <a:latin typeface="Courier New" pitchFamily="34" charset="0"/>
                <a:ea typeface="Courier New" pitchFamily="34" charset="-122"/>
                <a:cs typeface="Courier New" pitchFamily="34" charset="-120"/>
              </a:rPr>
              <a:t>WHERE c.stale_after IS NOT NULL</a:t>
            </a:r>
            <a:endParaRPr lang="en-US" sz="1050" dirty="0"/>
          </a:p>
          <a:p>
            <a:pPr indent="0" marL="0">
              <a:lnSpc>
                <a:spcPct val="112000"/>
              </a:lnSpc>
              <a:buNone/>
            </a:pPr>
            <a:r>
              <a:rPr lang="en-US" sz="1100" dirty="0">
                <a:solidFill>
                  <a:srgbClr val="D7E3F4"/>
                </a:solidFill>
                <a:latin typeface="Courier New" pitchFamily="34" charset="0"/>
                <a:ea typeface="Courier New" pitchFamily="34" charset="-122"/>
                <a:cs typeface="Courier New" pitchFamily="34" charset="-120"/>
              </a:rPr>
              <a:t>  AND date() &gt;= c.stale_after</a:t>
            </a:r>
            <a:endParaRPr lang="en-US" sz="1050" dirty="0"/>
          </a:p>
          <a:p>
            <a:pPr indent="0" marL="0">
              <a:lnSpc>
                <a:spcPct val="112000"/>
              </a:lnSpc>
              <a:buNone/>
            </a:pPr>
            <a:r>
              <a:rPr lang="en-US" sz="1100" dirty="0">
                <a:solidFill>
                  <a:srgbClr val="8494AB"/>
                </a:solidFill>
                <a:latin typeface="Courier New" pitchFamily="34" charset="0"/>
                <a:ea typeface="Courier New" pitchFamily="34" charset="-122"/>
                <a:cs typeface="Courier New" pitchFamily="34" charset="-120"/>
              </a:rPr>
              <a:t>// absolute date — no TTL arithmetic</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13</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Ingestion architecture</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phase 1 is pure structure — an LLM never touches it; embeddings are a separate, optional pass</a:t>
            </a:r>
            <a:endParaRPr lang="en-US" sz="1350" dirty="0"/>
          </a:p>
        </p:txBody>
      </p:sp>
      <p:pic>
        <p:nvPicPr>
          <p:cNvPr id="7" name="Image 0" descr="/home/claude/neo4j-okf/slides/diagrams/d08_pipeline.png">    </p:cNvPr>
          <p:cNvPicPr>
            <a:picLocks noChangeAspect="1"/>
          </p:cNvPicPr>
          <p:nvPr/>
        </p:nvPicPr>
        <p:blipFill>
          <a:blip r:embed="rId1"/>
          <a:stretch>
            <a:fillRect/>
          </a:stretch>
        </p:blipFill>
        <p:spPr>
          <a:xfrm>
            <a:off x="504292" y="1481328"/>
            <a:ext cx="11183112" cy="38208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14</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 · INTO NEO4J</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graph pays rent before any AI shows up</a:t>
            </a:r>
            <a:endParaRPr lang="en-US" sz="3000" dirty="0"/>
          </a:p>
        </p:txBody>
      </p:sp>
      <p:sp>
        <p:nvSpPr>
          <p:cNvPr id="6" name="Shape 4"/>
          <p:cNvSpPr/>
          <p:nvPr/>
        </p:nvSpPr>
        <p:spPr>
          <a:xfrm>
            <a:off x="502920" y="1481328"/>
            <a:ext cx="5577840" cy="2606040"/>
          </a:xfrm>
          <a:prstGeom prst="roundRect">
            <a:avLst>
              <a:gd name="adj" fmla="val 3158"/>
            </a:avLst>
          </a:prstGeom>
          <a:solidFill>
            <a:srgbClr val="101826"/>
          </a:solidFill>
          <a:ln/>
        </p:spPr>
      </p:sp>
      <p:sp>
        <p:nvSpPr>
          <p:cNvPr id="7" name="Text 5"/>
          <p:cNvSpPr/>
          <p:nvPr/>
        </p:nvSpPr>
        <p:spPr>
          <a:xfrm>
            <a:off x="704088" y="1609344"/>
            <a:ext cx="5175504" cy="2350008"/>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can we serve it? one query, whole estate
</a:t>
            </a:r>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MATCH (c:Concept) WHERE NOT c.stub</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RETURN c.id, c.trust_tier,</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CASE WHEN c.status = 'deprecated'</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THEN 'do not serve'</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WHEN date() &gt;= c.stale_after</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THEN 're-verify first'</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ELSE 'servable' END AS verdict</a:t>
            </a:r>
            <a:endParaRPr lang="en-US" sz="1050" dirty="0"/>
          </a:p>
          <a:p>
            <a:pPr indent="0" marL="0">
              <a:lnSpc>
                <a:spcPct val="112000"/>
              </a:lnSpc>
              <a:buNone/>
            </a:pP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metrics/gross-margin-legacy → do not serve</a:t>
            </a: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skills/run-on-bq (unverified) → servable</a:t>
            </a:r>
            <a:endParaRPr lang="en-US" sz="1050" dirty="0"/>
          </a:p>
        </p:txBody>
      </p:sp>
      <p:sp>
        <p:nvSpPr>
          <p:cNvPr id="8" name="Shape 6"/>
          <p:cNvSpPr/>
          <p:nvPr/>
        </p:nvSpPr>
        <p:spPr>
          <a:xfrm>
            <a:off x="6263640" y="1481328"/>
            <a:ext cx="5422392" cy="2606040"/>
          </a:xfrm>
          <a:prstGeom prst="roundRect">
            <a:avLst>
              <a:gd name="adj" fmla="val 3158"/>
            </a:avLst>
          </a:prstGeom>
          <a:solidFill>
            <a:srgbClr val="101826"/>
          </a:solidFill>
          <a:ln/>
        </p:spPr>
      </p:sp>
      <p:sp>
        <p:nvSpPr>
          <p:cNvPr id="9" name="Text 7"/>
          <p:cNvSpPr/>
          <p:nvPr/>
        </p:nvSpPr>
        <p:spPr>
          <a:xfrm>
            <a:off x="6464808" y="1609344"/>
            <a:ext cx="5020056" cy="2350008"/>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blast radius: what breaks if tables/orders changes?
</a:t>
            </a:r>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MATCH p = (up:Concept)-[:LINKS_TO|EXECUTED_BY|</a:t>
            </a:r>
            <a:endParaRPr lang="en-US" sz="1050" dirty="0"/>
          </a:p>
          <a:p>
            <a:pPr indent="0" marL="0">
              <a:lnSpc>
                <a:spcPct val="112000"/>
              </a:lnSpc>
              <a:buNone/>
            </a:pPr>
            <a:r>
              <a:rPr lang="en-US" sz="1150" dirty="0">
                <a:solidFill>
                  <a:srgbClr val="9CC2FF"/>
                </a:solidFill>
                <a:latin typeface="Courier New" pitchFamily="34" charset="0"/>
                <a:ea typeface="Courier New" pitchFamily="34" charset="-122"/>
                <a:cs typeface="Courier New" pitchFamily="34" charset="-120"/>
              </a:rPr>
              <a:t>   DERIVES_FROM|RESOLVES_TO|HAS_SECTION|MENTIONS</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*1..6]-&gt;(t:Concept {id:'tables/orders'})</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RETURN up.id, min(length(p)) AS hops  // via :Source too</a:t>
            </a:r>
            <a:endParaRPr lang="en-US" sz="1050" dirty="0"/>
          </a:p>
          <a:p>
            <a:pPr indent="0" marL="0">
              <a:lnSpc>
                <a:spcPct val="112000"/>
              </a:lnSpc>
              <a:buNone/>
            </a:pP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h1  policies/revenue-recognition</a:t>
            </a: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h2  computations/revenue-ytd   (provenance chain)</a:t>
            </a: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h3  metrics/revenue · gross-margin · gm-period</a:t>
            </a:r>
            <a:endParaRPr lang="en-US" sz="1050" dirty="0"/>
          </a:p>
          <a:p>
            <a:pPr indent="0" marL="0">
              <a:lnSpc>
                <a:spcPct val="112000"/>
              </a:lnSpc>
              <a:buNone/>
            </a:pPr>
            <a:r>
              <a:rPr lang="en-US" sz="1050" dirty="0">
                <a:solidFill>
                  <a:srgbClr val="8FD3B6"/>
                </a:solidFill>
                <a:latin typeface="Courier New" pitchFamily="34" charset="0"/>
                <a:ea typeface="Courier New" pitchFamily="34" charset="-122"/>
                <a:cs typeface="Courier New" pitchFamily="34" charset="-120"/>
              </a:rPr>
              <a:t>h4  gross-margin-legacy · margin-standard</a:t>
            </a:r>
            <a:endParaRPr lang="en-US" sz="1050" dirty="0"/>
          </a:p>
        </p:txBody>
      </p:sp>
      <p:sp>
        <p:nvSpPr>
          <p:cNvPr id="10" name="Text 8"/>
          <p:cNvSpPr/>
          <p:nvPr/>
        </p:nvSpPr>
        <p:spPr>
          <a:xfrm>
            <a:off x="566928" y="4434840"/>
            <a:ext cx="11064240" cy="384048"/>
          </a:xfrm>
          <a:prstGeom prst="rect">
            <a:avLst/>
          </a:prstGeom>
          <a:noFill/>
          <a:ln/>
        </p:spPr>
        <p:txBody>
          <a:bodyPr wrap="square" lIns="0" tIns="0" rIns="0" bIns="0" rtlCol="0" anchor="ctr"/>
          <a:lstStyle/>
          <a:p>
            <a:pPr indent="0" marL="0">
              <a:buNone/>
            </a:pPr>
            <a:r>
              <a:rPr lang="en-US" sz="1350" b="1" dirty="0">
                <a:solidFill>
                  <a:srgbClr val="159E84"/>
                </a:solidFill>
                <a:latin typeface="Arial" pitchFamily="34" charset="0"/>
                <a:ea typeface="Arial" pitchFamily="34" charset="-122"/>
                <a:cs typeface="Arial" pitchFamily="34" charset="-120"/>
              </a:rPr>
              <a:t>co-citation   </a:t>
            </a:r>
            <a:pPr indent="0" marL="0">
              <a:buNone/>
            </a:pPr>
            <a:r>
              <a:rPr lang="en-US" sz="1200" dirty="0">
                <a:solidFill>
                  <a:srgbClr val="5B6B82"/>
                </a:solidFill>
                <a:latin typeface="Courier New" pitchFamily="34" charset="0"/>
                <a:ea typeface="Courier New" pitchFamily="34" charset="-122"/>
                <a:cs typeface="Courier New" pitchFamily="34" charset="-120"/>
              </a:rPr>
              <a:t>concepts whose CLAIMS share a source — footnote-level, via (:Section)-[:CITES]-&gt;(:Source)</a:t>
            </a:r>
            <a:endParaRPr lang="en-US" sz="1350" dirty="0"/>
          </a:p>
        </p:txBody>
      </p:sp>
      <p:sp>
        <p:nvSpPr>
          <p:cNvPr id="11" name="Text 9"/>
          <p:cNvSpPr/>
          <p:nvPr/>
        </p:nvSpPr>
        <p:spPr>
          <a:xfrm>
            <a:off x="566928" y="5001768"/>
            <a:ext cx="11064240" cy="384048"/>
          </a:xfrm>
          <a:prstGeom prst="rect">
            <a:avLst/>
          </a:prstGeom>
          <a:noFill/>
          <a:ln/>
        </p:spPr>
        <p:txBody>
          <a:bodyPr wrap="square" lIns="0" tIns="0" rIns="0" bIns="0" rtlCol="0" anchor="ctr"/>
          <a:lstStyle/>
          <a:p>
            <a:pPr indent="0" marL="0">
              <a:buNone/>
            </a:pPr>
            <a:r>
              <a:rPr lang="en-US" sz="1350" b="1" dirty="0">
                <a:solidFill>
                  <a:srgbClr val="D64545"/>
                </a:solidFill>
                <a:latin typeface="Arial" pitchFamily="34" charset="0"/>
                <a:ea typeface="Arial" pitchFamily="34" charset="-122"/>
                <a:cs typeface="Arial" pitchFamily="34" charset="-120"/>
              </a:rPr>
              <a:t>authoring backlog   </a:t>
            </a:r>
            <a:pPr indent="0" marL="0">
              <a:buNone/>
            </a:pPr>
            <a:r>
              <a:rPr lang="en-US" sz="1200" dirty="0">
                <a:solidFill>
                  <a:srgbClr val="5B6B82"/>
                </a:solidFill>
                <a:latin typeface="Courier New" pitchFamily="34" charset="0"/>
                <a:ea typeface="Courier New" pitchFamily="34" charset="-122"/>
                <a:cs typeface="Courier New" pitchFamily="34" charset="-120"/>
              </a:rPr>
              <a:t>MATCH (ghost:Concept {stub:true})&lt;-[:LINKS_TO]-(c) — every not-yet-written doc, with who wants it</a:t>
            </a:r>
            <a:endParaRPr lang="en-US" sz="1350" dirty="0"/>
          </a:p>
        </p:txBody>
      </p:sp>
      <p:sp>
        <p:nvSpPr>
          <p:cNvPr id="12" name="Text 10"/>
          <p:cNvSpPr/>
          <p:nvPr/>
        </p:nvSpPr>
        <p:spPr>
          <a:xfrm>
            <a:off x="566928" y="5568696"/>
            <a:ext cx="11064240" cy="384048"/>
          </a:xfrm>
          <a:prstGeom prst="rect">
            <a:avLst/>
          </a:prstGeom>
          <a:noFill/>
          <a:ln/>
        </p:spPr>
        <p:txBody>
          <a:bodyPr wrap="square" lIns="0" tIns="0" rIns="0" bIns="0" rtlCol="0" anchor="ctr"/>
          <a:lstStyle/>
          <a:p>
            <a:pPr indent="0" marL="0">
              <a:buNone/>
            </a:pPr>
            <a:r>
              <a:rPr lang="en-US" sz="1350" b="1" dirty="0">
                <a:solidFill>
                  <a:srgbClr val="7C5CD6"/>
                </a:solidFill>
                <a:latin typeface="Arial" pitchFamily="34" charset="0"/>
                <a:ea typeface="Arial" pitchFamily="34" charset="-122"/>
                <a:cs typeface="Arial" pitchFamily="34" charset="-120"/>
              </a:rPr>
              <a:t>load-bearing knowledge   </a:t>
            </a:r>
            <a:pPr indent="0" marL="0">
              <a:buNone/>
            </a:pPr>
            <a:r>
              <a:rPr lang="en-US" sz="1200" dirty="0">
                <a:solidFill>
                  <a:srgbClr val="5B6B82"/>
                </a:solidFill>
                <a:latin typeface="Courier New" pitchFamily="34" charset="0"/>
                <a:ea typeface="Courier New" pitchFamily="34" charset="-122"/>
                <a:cs typeface="Courier New" pitchFamily="34" charset="-120"/>
              </a:rPr>
              <a:t>incoming-degree ranking (or PageRank via GDS) — what to re-verify first when the quarter turns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5F7390"/>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5F7390"/>
                </a:solidFill>
                <a:latin typeface="Arial" pitchFamily="34" charset="0"/>
                <a:ea typeface="Arial" pitchFamily="34" charset="-122"/>
                <a:cs typeface="Arial" pitchFamily="34" charset="-120"/>
              </a:rPr>
              <a:t>15</a:t>
            </a:r>
            <a:endParaRPr lang="en-US" sz="850" dirty="0"/>
          </a:p>
        </p:txBody>
      </p:sp>
      <p:sp>
        <p:nvSpPr>
          <p:cNvPr id="4" name="Shape 2"/>
          <p:cNvSpPr/>
          <p:nvPr/>
        </p:nvSpPr>
        <p:spPr>
          <a:xfrm flipV="1">
            <a:off x="10881360" y="627278"/>
            <a:ext cx="736092" cy="332842"/>
          </a:xfrm>
          <a:prstGeom prst="line">
            <a:avLst/>
          </a:prstGeom>
          <a:noFill/>
          <a:ln w="17780">
            <a:solidFill>
              <a:srgbClr val="3E5578"/>
            </a:solidFill>
            <a:prstDash val="solid"/>
          </a:ln>
        </p:spPr>
      </p:sp>
      <p:sp>
        <p:nvSpPr>
          <p:cNvPr id="5" name="Shape 3"/>
          <p:cNvSpPr/>
          <p:nvPr/>
        </p:nvSpPr>
        <p:spPr>
          <a:xfrm>
            <a:off x="10881360" y="960120"/>
            <a:ext cx="672084" cy="396850"/>
          </a:xfrm>
          <a:prstGeom prst="line">
            <a:avLst/>
          </a:prstGeom>
          <a:noFill/>
          <a:ln w="17780">
            <a:solidFill>
              <a:srgbClr val="3E5578"/>
            </a:solidFill>
            <a:prstDash val="solid"/>
          </a:ln>
        </p:spPr>
      </p:sp>
      <p:sp>
        <p:nvSpPr>
          <p:cNvPr id="6" name="Shape 4"/>
          <p:cNvSpPr/>
          <p:nvPr/>
        </p:nvSpPr>
        <p:spPr>
          <a:xfrm flipH="1">
            <a:off x="10273284" y="960120"/>
            <a:ext cx="608076" cy="352044"/>
          </a:xfrm>
          <a:prstGeom prst="line">
            <a:avLst/>
          </a:prstGeom>
          <a:noFill/>
          <a:ln w="17780">
            <a:solidFill>
              <a:srgbClr val="3E5578"/>
            </a:solidFill>
            <a:prstDash val="solid"/>
          </a:ln>
        </p:spPr>
      </p:sp>
      <p:sp>
        <p:nvSpPr>
          <p:cNvPr id="7" name="Shape 5"/>
          <p:cNvSpPr/>
          <p:nvPr/>
        </p:nvSpPr>
        <p:spPr>
          <a:xfrm flipH="1" flipV="1">
            <a:off x="10241280" y="563270"/>
            <a:ext cx="640080" cy="396850"/>
          </a:xfrm>
          <a:prstGeom prst="line">
            <a:avLst/>
          </a:prstGeom>
          <a:noFill/>
          <a:ln w="17780">
            <a:solidFill>
              <a:srgbClr val="3E5578"/>
            </a:solidFill>
            <a:prstDash val="solid"/>
          </a:ln>
        </p:spPr>
      </p:sp>
      <p:sp>
        <p:nvSpPr>
          <p:cNvPr id="8" name="Shape 6"/>
          <p:cNvSpPr/>
          <p:nvPr/>
        </p:nvSpPr>
        <p:spPr>
          <a:xfrm>
            <a:off x="10663733" y="742493"/>
            <a:ext cx="435254" cy="435254"/>
          </a:xfrm>
          <a:prstGeom prst="ellipse">
            <a:avLst/>
          </a:prstGeom>
          <a:solidFill>
            <a:srgbClr val="6EA8FF"/>
          </a:solidFill>
          <a:ln w="25400">
            <a:solidFill>
              <a:srgbClr val="0F1E33"/>
            </a:solidFill>
            <a:prstDash val="solid"/>
          </a:ln>
        </p:spPr>
      </p:sp>
      <p:sp>
        <p:nvSpPr>
          <p:cNvPr id="9" name="Shape 7"/>
          <p:cNvSpPr/>
          <p:nvPr/>
        </p:nvSpPr>
        <p:spPr>
          <a:xfrm>
            <a:off x="11463833" y="473659"/>
            <a:ext cx="307238" cy="307238"/>
          </a:xfrm>
          <a:prstGeom prst="ellipse">
            <a:avLst/>
          </a:prstGeom>
          <a:solidFill>
            <a:srgbClr val="159E84"/>
          </a:solidFill>
          <a:ln w="25400">
            <a:solidFill>
              <a:srgbClr val="0F1E33"/>
            </a:solidFill>
            <a:prstDash val="solid"/>
          </a:ln>
        </p:spPr>
      </p:sp>
      <p:sp>
        <p:nvSpPr>
          <p:cNvPr id="10" name="Shape 8"/>
          <p:cNvSpPr/>
          <p:nvPr/>
        </p:nvSpPr>
        <p:spPr>
          <a:xfrm>
            <a:off x="11425428" y="1228954"/>
            <a:ext cx="256032" cy="256032"/>
          </a:xfrm>
          <a:prstGeom prst="ellipse">
            <a:avLst/>
          </a:prstGeom>
          <a:solidFill>
            <a:srgbClr val="7C5CD6"/>
          </a:solidFill>
          <a:ln w="25400">
            <a:solidFill>
              <a:srgbClr val="0F1E33"/>
            </a:solidFill>
            <a:prstDash val="solid"/>
          </a:ln>
        </p:spPr>
      </p:sp>
      <p:sp>
        <p:nvSpPr>
          <p:cNvPr id="11" name="Shape 9"/>
          <p:cNvSpPr/>
          <p:nvPr/>
        </p:nvSpPr>
        <p:spPr>
          <a:xfrm>
            <a:off x="10145268" y="1184148"/>
            <a:ext cx="256032" cy="256032"/>
          </a:xfrm>
          <a:prstGeom prst="ellipse">
            <a:avLst/>
          </a:prstGeom>
          <a:solidFill>
            <a:srgbClr val="DD8F1F"/>
          </a:solidFill>
          <a:ln w="25400">
            <a:solidFill>
              <a:srgbClr val="0F1E33"/>
            </a:solidFill>
            <a:prstDash val="solid"/>
          </a:ln>
        </p:spPr>
      </p:sp>
      <p:sp>
        <p:nvSpPr>
          <p:cNvPr id="12" name="Shape 10"/>
          <p:cNvSpPr/>
          <p:nvPr/>
        </p:nvSpPr>
        <p:spPr>
          <a:xfrm>
            <a:off x="10138867" y="460858"/>
            <a:ext cx="204826" cy="204826"/>
          </a:xfrm>
          <a:prstGeom prst="ellipse">
            <a:avLst/>
          </a:prstGeom>
          <a:solidFill>
            <a:srgbClr val="159E84"/>
          </a:solidFill>
          <a:ln w="25400">
            <a:solidFill>
              <a:srgbClr val="0F1E33"/>
            </a:solidFill>
            <a:prstDash val="solid"/>
          </a:ln>
        </p:spPr>
      </p:sp>
      <p:sp>
        <p:nvSpPr>
          <p:cNvPr id="13" name="Text 11"/>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6EA8FF"/>
                </a:solidFill>
                <a:latin typeface="Arial" pitchFamily="34" charset="0"/>
                <a:ea typeface="Arial" pitchFamily="34" charset="-122"/>
                <a:cs typeface="Arial" pitchFamily="34" charset="-120"/>
              </a:rPr>
              <a:t>LIVE DEMO · PART 1</a:t>
            </a:r>
            <a:endParaRPr lang="en-US" sz="1100" dirty="0"/>
          </a:p>
        </p:txBody>
      </p:sp>
      <p:sp>
        <p:nvSpPr>
          <p:cNvPr id="14" name="Text 12"/>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Ingest and interrogate</a:t>
            </a:r>
            <a:endParaRPr lang="en-US" sz="3000" dirty="0"/>
          </a:p>
        </p:txBody>
      </p:sp>
      <p:sp>
        <p:nvSpPr>
          <p:cNvPr id="15" name="Text 13"/>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9FB2CC"/>
                </a:solidFill>
                <a:latin typeface="Arial" pitchFamily="34" charset="0"/>
                <a:ea typeface="Arial" pitchFamily="34" charset="-122"/>
                <a:cs typeface="Arial" pitchFamily="34" charset="-120"/>
              </a:rPr>
              <a:t>notebooks/okf_graphrag_demo.ipynb — sections 1–4 (no API key needed)</a:t>
            </a:r>
            <a:endParaRPr lang="en-US" sz="1350" dirty="0"/>
          </a:p>
        </p:txBody>
      </p:sp>
      <p:sp>
        <p:nvSpPr>
          <p:cNvPr id="16" name="Shape 14"/>
          <p:cNvSpPr/>
          <p:nvPr/>
        </p:nvSpPr>
        <p:spPr>
          <a:xfrm>
            <a:off x="685800" y="1920240"/>
            <a:ext cx="10789920" cy="859536"/>
          </a:xfrm>
          <a:prstGeom prst="roundRect">
            <a:avLst>
              <a:gd name="adj" fmla="val 9574"/>
            </a:avLst>
          </a:prstGeom>
          <a:solidFill>
            <a:srgbClr val="17293F"/>
          </a:solidFill>
          <a:ln w="12700">
            <a:solidFill>
              <a:srgbClr val="2C4258"/>
            </a:solidFill>
            <a:prstDash val="solid"/>
          </a:ln>
        </p:spPr>
      </p:sp>
      <p:sp>
        <p:nvSpPr>
          <p:cNvPr id="17" name="Text 15"/>
          <p:cNvSpPr/>
          <p:nvPr/>
        </p:nvSpPr>
        <p:spPr>
          <a:xfrm>
            <a:off x="914400" y="2121408"/>
            <a:ext cx="457200" cy="457200"/>
          </a:xfrm>
          <a:prstGeom prst="rect">
            <a:avLst/>
          </a:prstGeom>
          <a:noFill/>
          <a:ln/>
        </p:spPr>
        <p:txBody>
          <a:bodyPr wrap="square" lIns="0" tIns="0" rIns="0" bIns="0" rtlCol="0" anchor="ctr"/>
          <a:lstStyle/>
          <a:p>
            <a:pPr indent="0" marL="0">
              <a:buNone/>
            </a:pPr>
            <a:r>
              <a:rPr lang="en-US" sz="2000" b="1" dirty="0">
                <a:solidFill>
                  <a:srgbClr val="6EA8FF"/>
                </a:solidFill>
                <a:latin typeface="Arial" pitchFamily="34" charset="0"/>
                <a:ea typeface="Arial" pitchFamily="34" charset="-122"/>
                <a:cs typeface="Arial" pitchFamily="34" charset="-120"/>
              </a:rPr>
              <a:t>1</a:t>
            </a:r>
            <a:endParaRPr lang="en-US" sz="2000" dirty="0"/>
          </a:p>
        </p:txBody>
      </p:sp>
      <p:sp>
        <p:nvSpPr>
          <p:cNvPr id="18" name="Text 16"/>
          <p:cNvSpPr/>
          <p:nvPr/>
        </p:nvSpPr>
        <p:spPr>
          <a:xfrm>
            <a:off x="1463040" y="2048256"/>
            <a:ext cx="978408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docker compose up -d  &amp;&amp;  uv sync</a:t>
            </a:r>
            <a:endParaRPr lang="en-US" sz="1450" dirty="0"/>
          </a:p>
        </p:txBody>
      </p:sp>
      <p:sp>
        <p:nvSpPr>
          <p:cNvPr id="19" name="Text 17"/>
          <p:cNvSpPr/>
          <p:nvPr/>
        </p:nvSpPr>
        <p:spPr>
          <a:xfrm>
            <a:off x="1463040" y="2395728"/>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Neo4j 2025.x community · uv installs deps + the okf-graph CLI</a:t>
            </a:r>
            <a:endParaRPr lang="en-US" sz="1150" dirty="0"/>
          </a:p>
        </p:txBody>
      </p:sp>
      <p:sp>
        <p:nvSpPr>
          <p:cNvPr id="20" name="Shape 18"/>
          <p:cNvSpPr/>
          <p:nvPr/>
        </p:nvSpPr>
        <p:spPr>
          <a:xfrm>
            <a:off x="685800" y="2944368"/>
            <a:ext cx="10789920" cy="859536"/>
          </a:xfrm>
          <a:prstGeom prst="roundRect">
            <a:avLst>
              <a:gd name="adj" fmla="val 9574"/>
            </a:avLst>
          </a:prstGeom>
          <a:solidFill>
            <a:srgbClr val="17293F"/>
          </a:solidFill>
          <a:ln w="12700">
            <a:solidFill>
              <a:srgbClr val="2C4258"/>
            </a:solidFill>
            <a:prstDash val="solid"/>
          </a:ln>
        </p:spPr>
      </p:sp>
      <p:sp>
        <p:nvSpPr>
          <p:cNvPr id="21" name="Text 19"/>
          <p:cNvSpPr/>
          <p:nvPr/>
        </p:nvSpPr>
        <p:spPr>
          <a:xfrm>
            <a:off x="914400" y="3145536"/>
            <a:ext cx="457200" cy="457200"/>
          </a:xfrm>
          <a:prstGeom prst="rect">
            <a:avLst/>
          </a:prstGeom>
          <a:noFill/>
          <a:ln/>
        </p:spPr>
        <p:txBody>
          <a:bodyPr wrap="square" lIns="0" tIns="0" rIns="0" bIns="0" rtlCol="0" anchor="ctr"/>
          <a:lstStyle/>
          <a:p>
            <a:pPr indent="0" marL="0">
              <a:buNone/>
            </a:pPr>
            <a:r>
              <a:rPr lang="en-US" sz="2000" b="1" dirty="0">
                <a:solidFill>
                  <a:srgbClr val="6EA8FF"/>
                </a:solidFill>
                <a:latin typeface="Arial" pitchFamily="34" charset="0"/>
                <a:ea typeface="Arial" pitchFamily="34" charset="-122"/>
                <a:cs typeface="Arial" pitchFamily="34" charset="-120"/>
              </a:rPr>
              <a:t>2</a:t>
            </a:r>
            <a:endParaRPr lang="en-US" sz="2000" dirty="0"/>
          </a:p>
        </p:txBody>
      </p:sp>
      <p:sp>
        <p:nvSpPr>
          <p:cNvPr id="22" name="Text 20"/>
          <p:cNvSpPr/>
          <p:nvPr/>
        </p:nvSpPr>
        <p:spPr>
          <a:xfrm>
            <a:off x="1463040" y="3072384"/>
            <a:ext cx="978408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uv run okf-graph ingest bundles/acme_retail --reset</a:t>
            </a:r>
            <a:endParaRPr lang="en-US" sz="1450" dirty="0"/>
          </a:p>
        </p:txBody>
      </p:sp>
      <p:sp>
        <p:nvSpPr>
          <p:cNvPr id="23" name="Text 21"/>
          <p:cNvSpPr/>
          <p:nvPr/>
        </p:nvSpPr>
        <p:spPr>
          <a:xfrm>
            <a:off x="1463040" y="3419856"/>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parse → 9 concepts · 22 sections · 15 links · 4 log entries</a:t>
            </a:r>
            <a:endParaRPr lang="en-US" sz="1150" dirty="0"/>
          </a:p>
        </p:txBody>
      </p:sp>
      <p:sp>
        <p:nvSpPr>
          <p:cNvPr id="24" name="Shape 22"/>
          <p:cNvSpPr/>
          <p:nvPr/>
        </p:nvSpPr>
        <p:spPr>
          <a:xfrm>
            <a:off x="685800" y="3968496"/>
            <a:ext cx="10789920" cy="859536"/>
          </a:xfrm>
          <a:prstGeom prst="roundRect">
            <a:avLst>
              <a:gd name="adj" fmla="val 9574"/>
            </a:avLst>
          </a:prstGeom>
          <a:solidFill>
            <a:srgbClr val="17293F"/>
          </a:solidFill>
          <a:ln w="12700">
            <a:solidFill>
              <a:srgbClr val="2C4258"/>
            </a:solidFill>
            <a:prstDash val="solid"/>
          </a:ln>
        </p:spPr>
      </p:sp>
      <p:sp>
        <p:nvSpPr>
          <p:cNvPr id="25" name="Text 23"/>
          <p:cNvSpPr/>
          <p:nvPr/>
        </p:nvSpPr>
        <p:spPr>
          <a:xfrm>
            <a:off x="914400" y="4169664"/>
            <a:ext cx="457200" cy="457200"/>
          </a:xfrm>
          <a:prstGeom prst="rect">
            <a:avLst/>
          </a:prstGeom>
          <a:noFill/>
          <a:ln/>
        </p:spPr>
        <p:txBody>
          <a:bodyPr wrap="square" lIns="0" tIns="0" rIns="0" bIns="0" rtlCol="0" anchor="ctr"/>
          <a:lstStyle/>
          <a:p>
            <a:pPr indent="0" marL="0">
              <a:buNone/>
            </a:pPr>
            <a:r>
              <a:rPr lang="en-US" sz="2000" b="1" dirty="0">
                <a:solidFill>
                  <a:srgbClr val="6EA8FF"/>
                </a:solidFill>
                <a:latin typeface="Arial" pitchFamily="34" charset="0"/>
                <a:ea typeface="Arial" pitchFamily="34" charset="-122"/>
                <a:cs typeface="Arial" pitchFamily="34" charset="-120"/>
              </a:rPr>
              <a:t>3</a:t>
            </a:r>
            <a:endParaRPr lang="en-US" sz="2000" dirty="0"/>
          </a:p>
        </p:txBody>
      </p:sp>
      <p:sp>
        <p:nvSpPr>
          <p:cNvPr id="26" name="Text 24"/>
          <p:cNvSpPr/>
          <p:nvPr/>
        </p:nvSpPr>
        <p:spPr>
          <a:xfrm>
            <a:off x="1463040" y="4096512"/>
            <a:ext cx="978408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trust tiers · staleness · impact · co-citation</a:t>
            </a:r>
            <a:endParaRPr lang="en-US" sz="1450" dirty="0"/>
          </a:p>
        </p:txBody>
      </p:sp>
      <p:sp>
        <p:nvSpPr>
          <p:cNvPr id="27" name="Text 25"/>
          <p:cNvSpPr/>
          <p:nvPr/>
        </p:nvSpPr>
        <p:spPr>
          <a:xfrm>
            <a:off x="1463040" y="4443984"/>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the four governance queries, live on the real bundle</a:t>
            </a:r>
            <a:endParaRPr lang="en-US" sz="1150" dirty="0"/>
          </a:p>
        </p:txBody>
      </p:sp>
      <p:sp>
        <p:nvSpPr>
          <p:cNvPr id="28" name="Shape 26"/>
          <p:cNvSpPr/>
          <p:nvPr/>
        </p:nvSpPr>
        <p:spPr>
          <a:xfrm>
            <a:off x="685800" y="4992624"/>
            <a:ext cx="10789920" cy="859536"/>
          </a:xfrm>
          <a:prstGeom prst="roundRect">
            <a:avLst>
              <a:gd name="adj" fmla="val 9574"/>
            </a:avLst>
          </a:prstGeom>
          <a:solidFill>
            <a:srgbClr val="17293F"/>
          </a:solidFill>
          <a:ln w="12700">
            <a:solidFill>
              <a:srgbClr val="2C4258"/>
            </a:solidFill>
            <a:prstDash val="solid"/>
          </a:ln>
        </p:spPr>
      </p:sp>
      <p:sp>
        <p:nvSpPr>
          <p:cNvPr id="29" name="Text 27"/>
          <p:cNvSpPr/>
          <p:nvPr/>
        </p:nvSpPr>
        <p:spPr>
          <a:xfrm>
            <a:off x="914400" y="5193792"/>
            <a:ext cx="457200" cy="457200"/>
          </a:xfrm>
          <a:prstGeom prst="rect">
            <a:avLst/>
          </a:prstGeom>
          <a:noFill/>
          <a:ln/>
        </p:spPr>
        <p:txBody>
          <a:bodyPr wrap="square" lIns="0" tIns="0" rIns="0" bIns="0" rtlCol="0" anchor="ctr"/>
          <a:lstStyle/>
          <a:p>
            <a:pPr indent="0" marL="0">
              <a:buNone/>
            </a:pPr>
            <a:r>
              <a:rPr lang="en-US" sz="2000" b="1" dirty="0">
                <a:solidFill>
                  <a:srgbClr val="6EA8FF"/>
                </a:solidFill>
                <a:latin typeface="Arial" pitchFamily="34" charset="0"/>
                <a:ea typeface="Arial" pitchFamily="34" charset="-122"/>
                <a:cs typeface="Arial" pitchFamily="34" charset="-120"/>
              </a:rPr>
              <a:t>4</a:t>
            </a:r>
            <a:endParaRPr lang="en-US" sz="2000" dirty="0"/>
          </a:p>
        </p:txBody>
      </p:sp>
      <p:sp>
        <p:nvSpPr>
          <p:cNvPr id="30" name="Text 28"/>
          <p:cNvSpPr/>
          <p:nvPr/>
        </p:nvSpPr>
        <p:spPr>
          <a:xfrm>
            <a:off x="1463040" y="5120640"/>
            <a:ext cx="978408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neo4j-viz — color by status, spot the deprecated island</a:t>
            </a:r>
            <a:endParaRPr lang="en-US" sz="1450" dirty="0"/>
          </a:p>
        </p:txBody>
      </p:sp>
      <p:sp>
        <p:nvSpPr>
          <p:cNvPr id="31" name="Text 29"/>
          <p:cNvSpPr/>
          <p:nvPr/>
        </p:nvSpPr>
        <p:spPr>
          <a:xfrm>
            <a:off x="1463040" y="5468112"/>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interactive graph inside the notebook</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16</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III · GRAPHRAG</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Three retrieval patterns, one graph</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pick per question, compose freely — GraphRAG wraps any retriever with any LLM</a:t>
            </a:r>
            <a:endParaRPr lang="en-US" sz="1350" dirty="0"/>
          </a:p>
        </p:txBody>
      </p:sp>
      <p:pic>
        <p:nvPicPr>
          <p:cNvPr id="7" name="Image 0" descr="/home/claude/neo4j-okf/slides/diagrams/d09_retrievers.png">    </p:cNvPr>
          <p:cNvPicPr>
            <a:picLocks noChangeAspect="1"/>
          </p:cNvPicPr>
          <p:nvPr/>
        </p:nvPicPr>
        <p:blipFill>
          <a:blip r:embed="rId1"/>
          <a:stretch>
            <a:fillRect/>
          </a:stretch>
        </p:blipFill>
        <p:spPr>
          <a:xfrm>
            <a:off x="504292" y="1481328"/>
            <a:ext cx="11183112" cy="46596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17</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III · GRAPHRAG</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governance trap, step by step</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the deprecated definition is the best-written text about the question — similarity is doing its job</a:t>
            </a:r>
            <a:endParaRPr lang="en-US" sz="1350" dirty="0"/>
          </a:p>
        </p:txBody>
      </p:sp>
      <p:pic>
        <p:nvPicPr>
          <p:cNvPr id="7" name="Image 0" descr="/home/claude/neo4j-okf/slides/diagrams/d10_trap.png">    </p:cNvPr>
          <p:cNvPicPr>
            <a:picLocks noChangeAspect="1"/>
          </p:cNvPicPr>
          <p:nvPr/>
        </p:nvPicPr>
        <p:blipFill>
          <a:blip r:embed="rId1"/>
          <a:stretch>
            <a:fillRect/>
          </a:stretch>
        </p:blipFill>
        <p:spPr>
          <a:xfrm>
            <a:off x="1103224" y="1463040"/>
            <a:ext cx="9985248" cy="49926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18</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III · GRAPHRAG</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The governed retrieval_query</a:t>
            </a:r>
            <a:endParaRPr lang="en-US" sz="3000" dirty="0"/>
          </a:p>
        </p:txBody>
      </p:sp>
      <p:sp>
        <p:nvSpPr>
          <p:cNvPr id="6" name="Text 4"/>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5B6B82"/>
                </a:solidFill>
                <a:latin typeface="Arial" pitchFamily="34" charset="0"/>
                <a:ea typeface="Arial" pitchFamily="34" charset="-122"/>
                <a:cs typeface="Arial" pitchFamily="34" charset="-120"/>
              </a:rPr>
              <a:t>okf_graph/queries.py · GOVERNED_RETRIEVAL_QUERY — runs after the ANN lookup, per anchor</a:t>
            </a:r>
            <a:endParaRPr lang="en-US" sz="1350" dirty="0"/>
          </a:p>
        </p:txBody>
      </p:sp>
      <p:sp>
        <p:nvSpPr>
          <p:cNvPr id="7" name="Shape 5"/>
          <p:cNvSpPr/>
          <p:nvPr/>
        </p:nvSpPr>
        <p:spPr>
          <a:xfrm>
            <a:off x="502920" y="1572768"/>
            <a:ext cx="5806440" cy="4480560"/>
          </a:xfrm>
          <a:prstGeom prst="roundRect">
            <a:avLst>
              <a:gd name="adj" fmla="val 1837"/>
            </a:avLst>
          </a:prstGeom>
          <a:solidFill>
            <a:srgbClr val="101826"/>
          </a:solidFill>
          <a:ln/>
        </p:spPr>
      </p:sp>
      <p:sp>
        <p:nvSpPr>
          <p:cNvPr id="8" name="Text 6"/>
          <p:cNvSpPr/>
          <p:nvPr/>
        </p:nvSpPr>
        <p:spPr>
          <a:xfrm>
            <a:off x="704088" y="1700784"/>
            <a:ext cx="5404104" cy="4224528"/>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python: swap ONE argument
</a:t>
            </a:r>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from neo4j_graphrag.retrievers import \</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VectorRetriever, VectorCypherRetriever</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from neo4j_graphrag.generation import GraphRAG</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from neo4j_graphrag.llm import OpenAILLM</a:t>
            </a:r>
            <a:endParaRPr lang="en-US" sz="1050" dirty="0"/>
          </a:p>
          <a:p>
            <a:pPr indent="0" marL="0">
              <a:lnSpc>
                <a:spcPct val="112000"/>
              </a:lnSpc>
              <a:buNone/>
            </a:pPr>
            <a:endParaRPr lang="en-US" sz="1050" dirty="0"/>
          </a:p>
          <a:p>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baseline = VectorRetriever(driver,</a:t>
            </a:r>
            <a:endParaRPr lang="en-US" sz="1050" dirty="0"/>
          </a:p>
          <a:p>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    'section_embeddings', embedder)</a:t>
            </a:r>
            <a:endParaRPr lang="en-US" sz="1050" dirty="0"/>
          </a:p>
          <a:p>
            <a:pPr indent="0" marL="0">
              <a:lnSpc>
                <a:spcPct val="112000"/>
              </a:lnSpc>
              <a:buNone/>
            </a:pPr>
            <a:endParaRPr lang="en-US" sz="1050" dirty="0"/>
          </a:p>
          <a:p>
            <a:pPr indent="0" marL="0">
              <a:lnSpc>
                <a:spcPct val="112000"/>
              </a:lnSpc>
              <a:buNone/>
            </a:pPr>
            <a:r>
              <a:rPr lang="en-US" sz="1150" b="1" dirty="0">
                <a:solidFill>
                  <a:srgbClr val="8FD3B6"/>
                </a:solidFill>
                <a:latin typeface="Courier New" pitchFamily="34" charset="0"/>
                <a:ea typeface="Courier New" pitchFamily="34" charset="-122"/>
                <a:cs typeface="Courier New" pitchFamily="34" charset="-120"/>
              </a:rPr>
              <a:t>governed = VectorCypherRetriever(</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driver, 'section_embeddings',</a:t>
            </a:r>
            <a:endParaRPr lang="en-US" sz="1050" dirty="0"/>
          </a:p>
          <a:p>
            <a:pPr indent="0" marL="0">
              <a:lnSpc>
                <a:spcPct val="112000"/>
              </a:lnSpc>
              <a:buNone/>
            </a:pPr>
            <a:r>
              <a:rPr lang="en-US" sz="1150" b="1" dirty="0">
                <a:solidFill>
                  <a:srgbClr val="F2CC8F"/>
                </a:solidFill>
                <a:latin typeface="Courier New" pitchFamily="34" charset="0"/>
                <a:ea typeface="Courier New" pitchFamily="34" charset="-122"/>
                <a:cs typeface="Courier New" pitchFamily="34" charset="-120"/>
              </a:rPr>
              <a:t>    retrieval_query=GOVERNED_RETRIEVAL_QUERY,</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embedder=embedder)</a:t>
            </a:r>
            <a:endParaRPr lang="en-US" sz="1050" dirty="0"/>
          </a:p>
          <a:p>
            <a:pPr indent="0" marL="0">
              <a:lnSpc>
                <a:spcPct val="112000"/>
              </a:lnSpc>
              <a:buNone/>
            </a:pP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rag = GraphRAG(retriever=governed,</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llm=OpenAILLM('gpt-4o'))</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rag.search('how do we calculate</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gross margin?', return_context=True)</a:t>
            </a:r>
            <a:endParaRPr lang="en-US" sz="1050" dirty="0"/>
          </a:p>
        </p:txBody>
      </p:sp>
      <p:sp>
        <p:nvSpPr>
          <p:cNvPr id="9" name="Shape 7"/>
          <p:cNvSpPr/>
          <p:nvPr/>
        </p:nvSpPr>
        <p:spPr>
          <a:xfrm>
            <a:off x="6492240" y="1572768"/>
            <a:ext cx="5193792" cy="4480560"/>
          </a:xfrm>
          <a:prstGeom prst="roundRect">
            <a:avLst>
              <a:gd name="adj" fmla="val 1837"/>
            </a:avLst>
          </a:prstGeom>
          <a:solidFill>
            <a:srgbClr val="101826"/>
          </a:solidFill>
          <a:ln/>
        </p:spPr>
      </p:sp>
      <p:sp>
        <p:nvSpPr>
          <p:cNvPr id="10" name="Text 8"/>
          <p:cNvSpPr/>
          <p:nvPr/>
        </p:nvSpPr>
        <p:spPr>
          <a:xfrm>
            <a:off x="6693408" y="1700784"/>
            <a:ext cx="4791456" cy="4224528"/>
          </a:xfrm>
          <a:prstGeom prst="rect">
            <a:avLst/>
          </a:prstGeom>
          <a:noFill/>
          <a:ln/>
        </p:spPr>
        <p:txBody>
          <a:bodyPr wrap="square" lIns="0" tIns="0" rIns="0" bIns="0" rtlCol="0" anchor="t"/>
          <a:lstStyle/>
          <a:p>
            <a:pPr indent="0" marL="0">
              <a:lnSpc>
                <a:spcPct val="112000"/>
              </a:lnSpc>
              <a:buNone/>
            </a:pPr>
            <a:r>
              <a:rPr lang="en-US" sz="1050" b="1" dirty="0">
                <a:solidFill>
                  <a:srgbClr val="8494AB"/>
                </a:solidFill>
                <a:latin typeface="Courier New" pitchFamily="34" charset="0"/>
                <a:ea typeface="Courier New" pitchFamily="34" charset="-122"/>
                <a:cs typeface="Courier New" pitchFamily="34" charset="-120"/>
              </a:rPr>
              <a:t>— cypher: what each anchor pulls in
</a:t>
            </a:r>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WITH node, score              // ANN anchor</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MATCH (c)-[:HAS_SECTION]-&gt;(node)</a:t>
            </a:r>
            <a:endParaRPr lang="en-US" sz="1050" dirty="0"/>
          </a:p>
          <a:p>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 lifecycle + who verified</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OPTIONAL MATCH (c)-[v:VERIFIED_BY]-&gt;(va)</a:t>
            </a:r>
            <a:endParaRPr lang="en-US" sz="1050" dirty="0"/>
          </a:p>
          <a:p>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 sanctioned SQL, ≤2 link-hops away</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OPTIONAL MATCH p=(c)-[:LINKS_TO*1..2]-&gt;</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(ac:AttestedComputation) …</a:t>
            </a:r>
            <a:endParaRPr lang="en-US" sz="1050" dirty="0"/>
          </a:p>
          <a:p>
            <a:pPr indent="0" marL="0">
              <a:lnSpc>
                <a:spcPct val="112000"/>
              </a:lnSpc>
              <a:buNone/>
            </a:pPr>
            <a:r>
              <a:rPr lang="en-US" sz="1150" dirty="0">
                <a:solidFill>
                  <a:srgbClr val="8494AB"/>
                </a:solidFill>
                <a:latin typeface="Courier New" pitchFamily="34" charset="0"/>
                <a:ea typeface="Courier New" pitchFamily="34" charset="-122"/>
                <a:cs typeface="Courier New" pitchFamily="34" charset="-120"/>
              </a:rPr>
              <a:t>// provenance + the current replacement</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OPTIONAL MATCH (c)-[:DERIVES_FROM]-&gt;(src)</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OPTIONAL MATCH (c)-[:LINKS_TO]-&gt;(current)</a:t>
            </a:r>
            <a:endParaRPr lang="en-US" sz="1050" dirty="0"/>
          </a:p>
          <a:p>
            <a:pPr indent="0" marL="0">
              <a:lnSpc>
                <a:spcPct val="112000"/>
              </a:lnSpc>
              <a:buNone/>
            </a:pPr>
            <a:r>
              <a:rPr lang="en-US" sz="1150" dirty="0">
                <a:solidFill>
                  <a:srgbClr val="D7E3F4"/>
                </a:solidFill>
                <a:latin typeface="Courier New" pitchFamily="34" charset="0"/>
                <a:ea typeface="Courier New" pitchFamily="34" charset="-122"/>
                <a:cs typeface="Courier New" pitchFamily="34" charset="-120"/>
              </a:rPr>
              <a:t>  WHERE c.status = 'deprecated' …</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RETURN '=== '+c.title+' ===\n'+</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'status: … SUPERSEDED BY …'+</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'trust/freshness verdicts'+node.text+</a:t>
            </a:r>
            <a:endParaRPr lang="en-US" sz="1050" dirty="0"/>
          </a:p>
          <a:p>
            <a:pPr indent="0" marL="0">
              <a:lnSpc>
                <a:spcPct val="112000"/>
              </a:lnSpc>
              <a:buNone/>
            </a:pPr>
            <a:r>
              <a:rPr lang="en-US" sz="1150" dirty="0">
                <a:solidFill>
                  <a:srgbClr val="F2CC8F"/>
                </a:solidFill>
                <a:latin typeface="Courier New" pitchFamily="34" charset="0"/>
                <a:ea typeface="Courier New" pitchFamily="34" charset="-122"/>
                <a:cs typeface="Courier New" pitchFamily="34" charset="-120"/>
              </a:rPr>
              <a:t>  'sanctioned SQL…' AS info, score</a:t>
            </a:r>
            <a:endParaRPr lang="en-US" sz="1050" dirty="0"/>
          </a:p>
        </p:txBody>
      </p:sp>
      <p:sp>
        <p:nvSpPr>
          <p:cNvPr id="11" name="Text 9"/>
          <p:cNvSpPr/>
          <p:nvPr/>
        </p:nvSpPr>
        <p:spPr>
          <a:xfrm>
            <a:off x="502920" y="6199632"/>
            <a:ext cx="11155680" cy="292608"/>
          </a:xfrm>
          <a:prstGeom prst="rect">
            <a:avLst/>
          </a:prstGeom>
          <a:noFill/>
          <a:ln/>
        </p:spPr>
        <p:txBody>
          <a:bodyPr wrap="square" lIns="0" tIns="0" rIns="0" bIns="0" rtlCol="0" anchor="ctr"/>
          <a:lstStyle/>
          <a:p>
            <a:pPr indent="0" marL="0">
              <a:buNone/>
            </a:pPr>
            <a:r>
              <a:rPr lang="en-US" sz="1250" i="1" dirty="0">
                <a:solidFill>
                  <a:srgbClr val="5B6B82"/>
                </a:solidFill>
                <a:latin typeface="Arial" pitchFamily="34" charset="0"/>
                <a:ea typeface="Arial" pitchFamily="34" charset="-122"/>
                <a:cs typeface="Arial" pitchFamily="34" charset="-120"/>
              </a:rPr>
              <a:t>The 2-hop LINKS_TO is what lets a deprecated anchor still reach the sanctioned SQL — through its replacement.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19</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PART III · GRAPHRAG</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Text2Cypher: questions with no similarity anchor</a:t>
            </a:r>
            <a:endParaRPr lang="en-US" sz="3000" dirty="0"/>
          </a:p>
        </p:txBody>
      </p:sp>
      <p:sp>
        <p:nvSpPr>
          <p:cNvPr id="6" name="Text 4"/>
          <p:cNvSpPr/>
          <p:nvPr/>
        </p:nvSpPr>
        <p:spPr>
          <a:xfrm>
            <a:off x="566928" y="1554480"/>
            <a:ext cx="10972800" cy="310896"/>
          </a:xfrm>
          <a:prstGeom prst="rect">
            <a:avLst/>
          </a:prstGeom>
          <a:noFill/>
          <a:ln/>
        </p:spPr>
        <p:txBody>
          <a:bodyPr wrap="square" lIns="0" tIns="0" rIns="0" bIns="0" rtlCol="0" anchor="ctr"/>
          <a:lstStyle/>
          <a:p>
            <a:pPr indent="0" marL="0">
              <a:buNone/>
            </a:pPr>
            <a:r>
              <a:rPr lang="en-US" sz="1350" b="1" dirty="0">
                <a:solidFill>
                  <a:srgbClr val="16243B"/>
                </a:solidFill>
                <a:latin typeface="Arial" pitchFamily="34" charset="0"/>
                <a:ea typeface="Arial" pitchFamily="34" charset="-122"/>
                <a:cs typeface="Arial" pitchFamily="34" charset="-120"/>
              </a:rPr>
              <a:t>❝ Which concepts are stale or deprecated, and what replaces them? ❞</a:t>
            </a:r>
            <a:endParaRPr lang="en-US" sz="1350" dirty="0"/>
          </a:p>
        </p:txBody>
      </p:sp>
      <p:sp>
        <p:nvSpPr>
          <p:cNvPr id="7" name="Shape 5"/>
          <p:cNvSpPr/>
          <p:nvPr/>
        </p:nvSpPr>
        <p:spPr>
          <a:xfrm>
            <a:off x="566928" y="1920240"/>
            <a:ext cx="11064240" cy="841248"/>
          </a:xfrm>
          <a:prstGeom prst="roundRect">
            <a:avLst>
              <a:gd name="adj" fmla="val 9783"/>
            </a:avLst>
          </a:prstGeom>
          <a:solidFill>
            <a:srgbClr val="101826"/>
          </a:solidFill>
          <a:ln/>
        </p:spPr>
      </p:sp>
      <p:sp>
        <p:nvSpPr>
          <p:cNvPr id="8" name="Text 6"/>
          <p:cNvSpPr/>
          <p:nvPr/>
        </p:nvSpPr>
        <p:spPr>
          <a:xfrm>
            <a:off x="768096" y="2048256"/>
            <a:ext cx="10661904" cy="585216"/>
          </a:xfrm>
          <a:prstGeom prst="rect">
            <a:avLst/>
          </a:prstGeom>
          <a:noFill/>
          <a:ln/>
        </p:spPr>
        <p:txBody>
          <a:bodyPr wrap="square" lIns="0" tIns="0" rIns="0" bIns="0" rtlCol="0" anchor="t"/>
          <a:lstStyle/>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MATCH (c:Concept) WHERE c.status='deprecated' OR date() &gt;= c.stale_after</a:t>
            </a:r>
            <a:endParaRPr lang="en-US" sz="1100" dirty="0"/>
          </a:p>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OPTIONAL MATCH (c)-[:LINKS_TO]-&gt;(r {status:'stable'}) RETURN c.id, r.id</a:t>
            </a:r>
            <a:endParaRPr lang="en-US" sz="1100" dirty="0"/>
          </a:p>
        </p:txBody>
      </p:sp>
      <p:sp>
        <p:nvSpPr>
          <p:cNvPr id="9" name="Text 7"/>
          <p:cNvSpPr/>
          <p:nvPr/>
        </p:nvSpPr>
        <p:spPr>
          <a:xfrm>
            <a:off x="566928" y="2944368"/>
            <a:ext cx="10972800" cy="310896"/>
          </a:xfrm>
          <a:prstGeom prst="rect">
            <a:avLst/>
          </a:prstGeom>
          <a:noFill/>
          <a:ln/>
        </p:spPr>
        <p:txBody>
          <a:bodyPr wrap="square" lIns="0" tIns="0" rIns="0" bIns="0" rtlCol="0" anchor="ctr"/>
          <a:lstStyle/>
          <a:p>
            <a:pPr indent="0" marL="0">
              <a:buNone/>
            </a:pPr>
            <a:r>
              <a:rPr lang="en-US" sz="1350" b="1" dirty="0">
                <a:solidFill>
                  <a:srgbClr val="16243B"/>
                </a:solidFill>
                <a:latin typeface="Arial" pitchFamily="34" charset="0"/>
                <a:ea typeface="Arial" pitchFamily="34" charset="-122"/>
                <a:cs typeface="Arial" pitchFamily="34" charset="-120"/>
              </a:rPr>
              <a:t>❝ Which metrics were never reviewed by a human? ❞</a:t>
            </a:r>
            <a:endParaRPr lang="en-US" sz="1350" dirty="0"/>
          </a:p>
        </p:txBody>
      </p:sp>
      <p:sp>
        <p:nvSpPr>
          <p:cNvPr id="10" name="Shape 8"/>
          <p:cNvSpPr/>
          <p:nvPr/>
        </p:nvSpPr>
        <p:spPr>
          <a:xfrm>
            <a:off x="566928" y="3310128"/>
            <a:ext cx="11064240" cy="841248"/>
          </a:xfrm>
          <a:prstGeom prst="roundRect">
            <a:avLst>
              <a:gd name="adj" fmla="val 9783"/>
            </a:avLst>
          </a:prstGeom>
          <a:solidFill>
            <a:srgbClr val="101826"/>
          </a:solidFill>
          <a:ln/>
        </p:spPr>
      </p:sp>
      <p:sp>
        <p:nvSpPr>
          <p:cNvPr id="11" name="Text 9"/>
          <p:cNvSpPr/>
          <p:nvPr/>
        </p:nvSpPr>
        <p:spPr>
          <a:xfrm>
            <a:off x="768096" y="3438144"/>
            <a:ext cx="10661904" cy="585216"/>
          </a:xfrm>
          <a:prstGeom prst="rect">
            <a:avLst/>
          </a:prstGeom>
          <a:noFill/>
          <a:ln/>
        </p:spPr>
        <p:txBody>
          <a:bodyPr wrap="square" lIns="0" tIns="0" rIns="0" bIns="0" rtlCol="0" anchor="t"/>
          <a:lstStyle/>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MATCH (m:Metric) WHERE m.trust_tier &lt;&gt; 'human-reviewed'</a:t>
            </a:r>
            <a:endParaRPr lang="en-US" sz="1100" dirty="0"/>
          </a:p>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RETURN m.id, m.trust_tier</a:t>
            </a:r>
            <a:endParaRPr lang="en-US" sz="1100" dirty="0"/>
          </a:p>
        </p:txBody>
      </p:sp>
      <p:sp>
        <p:nvSpPr>
          <p:cNvPr id="12" name="Text 10"/>
          <p:cNvSpPr/>
          <p:nvPr/>
        </p:nvSpPr>
        <p:spPr>
          <a:xfrm>
            <a:off x="566928" y="4334256"/>
            <a:ext cx="10972800" cy="310896"/>
          </a:xfrm>
          <a:prstGeom prst="rect">
            <a:avLst/>
          </a:prstGeom>
          <a:noFill/>
          <a:ln/>
        </p:spPr>
        <p:txBody>
          <a:bodyPr wrap="square" lIns="0" tIns="0" rIns="0" bIns="0" rtlCol="0" anchor="ctr"/>
          <a:lstStyle/>
          <a:p>
            <a:pPr indent="0" marL="0">
              <a:buNone/>
            </a:pPr>
            <a:r>
              <a:rPr lang="en-US" sz="1350" b="1" dirty="0">
                <a:solidFill>
                  <a:srgbClr val="16243B"/>
                </a:solidFill>
                <a:latin typeface="Arial" pitchFamily="34" charset="0"/>
                <a:ea typeface="Arial" pitchFamily="34" charset="-122"/>
                <a:cs typeface="Arial" pitchFamily="34" charset="-120"/>
              </a:rPr>
              <a:t>❝ Who verified revenue, and which sources back it? ❞</a:t>
            </a:r>
            <a:endParaRPr lang="en-US" sz="1350" dirty="0"/>
          </a:p>
        </p:txBody>
      </p:sp>
      <p:sp>
        <p:nvSpPr>
          <p:cNvPr id="13" name="Shape 11"/>
          <p:cNvSpPr/>
          <p:nvPr/>
        </p:nvSpPr>
        <p:spPr>
          <a:xfrm>
            <a:off x="566928" y="4700016"/>
            <a:ext cx="11064240" cy="841248"/>
          </a:xfrm>
          <a:prstGeom prst="roundRect">
            <a:avLst>
              <a:gd name="adj" fmla="val 9783"/>
            </a:avLst>
          </a:prstGeom>
          <a:solidFill>
            <a:srgbClr val="101826"/>
          </a:solidFill>
          <a:ln/>
        </p:spPr>
      </p:sp>
      <p:sp>
        <p:nvSpPr>
          <p:cNvPr id="14" name="Text 12"/>
          <p:cNvSpPr/>
          <p:nvPr/>
        </p:nvSpPr>
        <p:spPr>
          <a:xfrm>
            <a:off x="768096" y="4828032"/>
            <a:ext cx="10661904" cy="585216"/>
          </a:xfrm>
          <a:prstGeom prst="rect">
            <a:avLst/>
          </a:prstGeom>
          <a:noFill/>
          <a:ln/>
        </p:spPr>
        <p:txBody>
          <a:bodyPr wrap="square" lIns="0" tIns="0" rIns="0" bIns="0" rtlCol="0" anchor="t"/>
          <a:lstStyle/>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MATCH (c {id:'metrics/revenue'})-[v:VERIFIED_BY]-&gt;(a)</a:t>
            </a:r>
            <a:endParaRPr lang="en-US" sz="1100" dirty="0"/>
          </a:p>
          <a:p>
            <a:pPr indent="0" marL="0">
              <a:lnSpc>
                <a:spcPct val="115000"/>
              </a:lnSpc>
              <a:buNone/>
            </a:pPr>
            <a:r>
              <a:rPr lang="en-US" sz="1100" dirty="0">
                <a:solidFill>
                  <a:srgbClr val="8FD3B6"/>
                </a:solidFill>
                <a:latin typeface="Courier New" pitchFamily="34" charset="0"/>
                <a:ea typeface="Courier New" pitchFamily="34" charset="-122"/>
                <a:cs typeface="Courier New" pitchFamily="34" charset="-120"/>
              </a:rPr>
              <a:t>OPTIONAL MATCH (c)-[:DERIVES_FROM]-&gt;(s) RETURN a.id, v.at, collect(s.title)</a:t>
            </a:r>
            <a:endParaRPr lang="en-US" sz="1100" dirty="0"/>
          </a:p>
        </p:txBody>
      </p:sp>
      <p:sp>
        <p:nvSpPr>
          <p:cNvPr id="15" name="Text 13"/>
          <p:cNvSpPr/>
          <p:nvPr/>
        </p:nvSpPr>
        <p:spPr>
          <a:xfrm>
            <a:off x="566928" y="5806440"/>
            <a:ext cx="11064240" cy="566928"/>
          </a:xfrm>
          <a:prstGeom prst="rect">
            <a:avLst/>
          </a:prstGeom>
          <a:noFill/>
          <a:ln/>
        </p:spPr>
        <p:txBody>
          <a:bodyPr wrap="square" lIns="0" tIns="0" rIns="0" bIns="0" rtlCol="0" anchor="ctr"/>
          <a:lstStyle/>
          <a:p>
            <a:pPr indent="0" marL="0">
              <a:buNone/>
            </a:pPr>
            <a:r>
              <a:rPr lang="en-US" sz="1250" b="1" dirty="0">
                <a:solidFill>
                  <a:srgbClr val="DD8F1F"/>
                </a:solidFill>
                <a:latin typeface="Arial" pitchFamily="34" charset="0"/>
                <a:ea typeface="Arial" pitchFamily="34" charset="-122"/>
                <a:cs typeface="Arial" pitchFamily="34" charset="-120"/>
              </a:rPr>
              <a:t>Guardrails: </a:t>
            </a:r>
            <a:pPr indent="0" marL="0">
              <a:buNone/>
            </a:pPr>
            <a:r>
              <a:rPr lang="en-US" sz="1250" dirty="0">
                <a:solidFill>
                  <a:srgbClr val="5B6B82"/>
                </a:solidFill>
                <a:latin typeface="Arial" pitchFamily="34" charset="0"/>
                <a:ea typeface="Arial" pitchFamily="34" charset="-122"/>
                <a:cs typeface="Arial" pitchFamily="34" charset="-120"/>
              </a:rPr>
              <a:t>hand-written schema string + few-shot examples (in queries.py) beat a dumped SHOW SCHEMA · run with a read-only user · generated Cypher explores, canned Cypher ships to dashboards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5F7390"/>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5F7390"/>
                </a:solidFill>
                <a:latin typeface="Arial" pitchFamily="34" charset="0"/>
                <a:ea typeface="Arial" pitchFamily="34" charset="-122"/>
                <a:cs typeface="Arial" pitchFamily="34" charset="-120"/>
              </a:rPr>
              <a:t>20</a:t>
            </a:r>
            <a:endParaRPr lang="en-US" sz="850" dirty="0"/>
          </a:p>
        </p:txBody>
      </p:sp>
      <p:sp>
        <p:nvSpPr>
          <p:cNvPr id="4" name="Shape 2"/>
          <p:cNvSpPr/>
          <p:nvPr/>
        </p:nvSpPr>
        <p:spPr>
          <a:xfrm flipV="1">
            <a:off x="10881360" y="627278"/>
            <a:ext cx="736092" cy="332842"/>
          </a:xfrm>
          <a:prstGeom prst="line">
            <a:avLst/>
          </a:prstGeom>
          <a:noFill/>
          <a:ln w="17780">
            <a:solidFill>
              <a:srgbClr val="3E5578"/>
            </a:solidFill>
            <a:prstDash val="solid"/>
          </a:ln>
        </p:spPr>
      </p:sp>
      <p:sp>
        <p:nvSpPr>
          <p:cNvPr id="5" name="Shape 3"/>
          <p:cNvSpPr/>
          <p:nvPr/>
        </p:nvSpPr>
        <p:spPr>
          <a:xfrm>
            <a:off x="10881360" y="960120"/>
            <a:ext cx="672084" cy="396850"/>
          </a:xfrm>
          <a:prstGeom prst="line">
            <a:avLst/>
          </a:prstGeom>
          <a:noFill/>
          <a:ln w="17780">
            <a:solidFill>
              <a:srgbClr val="3E5578"/>
            </a:solidFill>
            <a:prstDash val="solid"/>
          </a:ln>
        </p:spPr>
      </p:sp>
      <p:sp>
        <p:nvSpPr>
          <p:cNvPr id="6" name="Shape 4"/>
          <p:cNvSpPr/>
          <p:nvPr/>
        </p:nvSpPr>
        <p:spPr>
          <a:xfrm flipH="1">
            <a:off x="10273284" y="960120"/>
            <a:ext cx="608076" cy="352044"/>
          </a:xfrm>
          <a:prstGeom prst="line">
            <a:avLst/>
          </a:prstGeom>
          <a:noFill/>
          <a:ln w="17780">
            <a:solidFill>
              <a:srgbClr val="3E5578"/>
            </a:solidFill>
            <a:prstDash val="solid"/>
          </a:ln>
        </p:spPr>
      </p:sp>
      <p:sp>
        <p:nvSpPr>
          <p:cNvPr id="7" name="Shape 5"/>
          <p:cNvSpPr/>
          <p:nvPr/>
        </p:nvSpPr>
        <p:spPr>
          <a:xfrm flipH="1" flipV="1">
            <a:off x="10241280" y="563270"/>
            <a:ext cx="640080" cy="396850"/>
          </a:xfrm>
          <a:prstGeom prst="line">
            <a:avLst/>
          </a:prstGeom>
          <a:noFill/>
          <a:ln w="17780">
            <a:solidFill>
              <a:srgbClr val="3E5578"/>
            </a:solidFill>
            <a:prstDash val="solid"/>
          </a:ln>
        </p:spPr>
      </p:sp>
      <p:sp>
        <p:nvSpPr>
          <p:cNvPr id="8" name="Shape 6"/>
          <p:cNvSpPr/>
          <p:nvPr/>
        </p:nvSpPr>
        <p:spPr>
          <a:xfrm>
            <a:off x="10663733" y="742493"/>
            <a:ext cx="435254" cy="435254"/>
          </a:xfrm>
          <a:prstGeom prst="ellipse">
            <a:avLst/>
          </a:prstGeom>
          <a:solidFill>
            <a:srgbClr val="6EA8FF"/>
          </a:solidFill>
          <a:ln w="25400">
            <a:solidFill>
              <a:srgbClr val="0F1E33"/>
            </a:solidFill>
            <a:prstDash val="solid"/>
          </a:ln>
        </p:spPr>
      </p:sp>
      <p:sp>
        <p:nvSpPr>
          <p:cNvPr id="9" name="Shape 7"/>
          <p:cNvSpPr/>
          <p:nvPr/>
        </p:nvSpPr>
        <p:spPr>
          <a:xfrm>
            <a:off x="11463833" y="473659"/>
            <a:ext cx="307238" cy="307238"/>
          </a:xfrm>
          <a:prstGeom prst="ellipse">
            <a:avLst/>
          </a:prstGeom>
          <a:solidFill>
            <a:srgbClr val="159E84"/>
          </a:solidFill>
          <a:ln w="25400">
            <a:solidFill>
              <a:srgbClr val="0F1E33"/>
            </a:solidFill>
            <a:prstDash val="solid"/>
          </a:ln>
        </p:spPr>
      </p:sp>
      <p:sp>
        <p:nvSpPr>
          <p:cNvPr id="10" name="Shape 8"/>
          <p:cNvSpPr/>
          <p:nvPr/>
        </p:nvSpPr>
        <p:spPr>
          <a:xfrm>
            <a:off x="11425428" y="1228954"/>
            <a:ext cx="256032" cy="256032"/>
          </a:xfrm>
          <a:prstGeom prst="ellipse">
            <a:avLst/>
          </a:prstGeom>
          <a:solidFill>
            <a:srgbClr val="7C5CD6"/>
          </a:solidFill>
          <a:ln w="25400">
            <a:solidFill>
              <a:srgbClr val="0F1E33"/>
            </a:solidFill>
            <a:prstDash val="solid"/>
          </a:ln>
        </p:spPr>
      </p:sp>
      <p:sp>
        <p:nvSpPr>
          <p:cNvPr id="11" name="Shape 9"/>
          <p:cNvSpPr/>
          <p:nvPr/>
        </p:nvSpPr>
        <p:spPr>
          <a:xfrm>
            <a:off x="10145268" y="1184148"/>
            <a:ext cx="256032" cy="256032"/>
          </a:xfrm>
          <a:prstGeom prst="ellipse">
            <a:avLst/>
          </a:prstGeom>
          <a:solidFill>
            <a:srgbClr val="DD8F1F"/>
          </a:solidFill>
          <a:ln w="25400">
            <a:solidFill>
              <a:srgbClr val="0F1E33"/>
            </a:solidFill>
            <a:prstDash val="solid"/>
          </a:ln>
        </p:spPr>
      </p:sp>
      <p:sp>
        <p:nvSpPr>
          <p:cNvPr id="12" name="Shape 10"/>
          <p:cNvSpPr/>
          <p:nvPr/>
        </p:nvSpPr>
        <p:spPr>
          <a:xfrm>
            <a:off x="10138867" y="460858"/>
            <a:ext cx="204826" cy="204826"/>
          </a:xfrm>
          <a:prstGeom prst="ellipse">
            <a:avLst/>
          </a:prstGeom>
          <a:solidFill>
            <a:srgbClr val="159E84"/>
          </a:solidFill>
          <a:ln w="25400">
            <a:solidFill>
              <a:srgbClr val="0F1E33"/>
            </a:solidFill>
            <a:prstDash val="solid"/>
          </a:ln>
        </p:spPr>
      </p:sp>
      <p:sp>
        <p:nvSpPr>
          <p:cNvPr id="13" name="Text 11"/>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6EA8FF"/>
                </a:solidFill>
                <a:latin typeface="Arial" pitchFamily="34" charset="0"/>
                <a:ea typeface="Arial" pitchFamily="34" charset="-122"/>
                <a:cs typeface="Arial" pitchFamily="34" charset="-120"/>
              </a:rPr>
              <a:t>LIVE DEMO · PART 2</a:t>
            </a:r>
            <a:endParaRPr lang="en-US" sz="1100" dirty="0"/>
          </a:p>
        </p:txBody>
      </p:sp>
      <p:sp>
        <p:nvSpPr>
          <p:cNvPr id="14" name="Text 12"/>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GraphRAG on the bundle</a:t>
            </a:r>
            <a:endParaRPr lang="en-US" sz="3000" dirty="0"/>
          </a:p>
        </p:txBody>
      </p:sp>
      <p:sp>
        <p:nvSpPr>
          <p:cNvPr id="15" name="Text 13"/>
          <p:cNvSpPr/>
          <p:nvPr/>
        </p:nvSpPr>
        <p:spPr>
          <a:xfrm>
            <a:off x="502920" y="1133856"/>
            <a:ext cx="11155680" cy="310896"/>
          </a:xfrm>
          <a:prstGeom prst="rect">
            <a:avLst/>
          </a:prstGeom>
          <a:noFill/>
          <a:ln/>
        </p:spPr>
        <p:txBody>
          <a:bodyPr wrap="square" lIns="0" tIns="0" rIns="0" bIns="0" rtlCol="0" anchor="ctr"/>
          <a:lstStyle/>
          <a:p>
            <a:pPr indent="0" marL="0">
              <a:buNone/>
            </a:pPr>
            <a:r>
              <a:rPr lang="en-US" sz="1350" dirty="0">
                <a:solidFill>
                  <a:srgbClr val="9FB2CC"/>
                </a:solidFill>
                <a:latin typeface="Arial" pitchFamily="34" charset="0"/>
                <a:ea typeface="Arial" pitchFamily="34" charset="-122"/>
                <a:cs typeface="Arial" pitchFamily="34" charset="-120"/>
              </a:rPr>
              <a:t>notebook sections 5–8 — needs OPENAI_API_KEY (embeddings + gpt-4o)</a:t>
            </a:r>
            <a:endParaRPr lang="en-US" sz="1350" dirty="0"/>
          </a:p>
        </p:txBody>
      </p:sp>
      <p:sp>
        <p:nvSpPr>
          <p:cNvPr id="16" name="Shape 14"/>
          <p:cNvSpPr/>
          <p:nvPr/>
        </p:nvSpPr>
        <p:spPr>
          <a:xfrm>
            <a:off x="685800" y="1920240"/>
            <a:ext cx="10789920" cy="859536"/>
          </a:xfrm>
          <a:prstGeom prst="roundRect">
            <a:avLst>
              <a:gd name="adj" fmla="val 9574"/>
            </a:avLst>
          </a:prstGeom>
          <a:solidFill>
            <a:srgbClr val="17293F"/>
          </a:solidFill>
          <a:ln w="12700">
            <a:solidFill>
              <a:srgbClr val="2C4258"/>
            </a:solidFill>
            <a:prstDash val="solid"/>
          </a:ln>
        </p:spPr>
      </p:sp>
      <p:sp>
        <p:nvSpPr>
          <p:cNvPr id="17" name="Text 15"/>
          <p:cNvSpPr/>
          <p:nvPr/>
        </p:nvSpPr>
        <p:spPr>
          <a:xfrm>
            <a:off x="914400" y="2121408"/>
            <a:ext cx="457200" cy="457200"/>
          </a:xfrm>
          <a:prstGeom prst="rect">
            <a:avLst/>
          </a:prstGeom>
          <a:noFill/>
          <a:ln/>
        </p:spPr>
        <p:txBody>
          <a:bodyPr wrap="square" lIns="0" tIns="0" rIns="0" bIns="0" rtlCol="0" anchor="ctr"/>
          <a:lstStyle/>
          <a:p>
            <a:pPr indent="0" marL="0">
              <a:buNone/>
            </a:pPr>
            <a:r>
              <a:rPr lang="en-US" sz="2000" b="1" dirty="0">
                <a:solidFill>
                  <a:srgbClr val="159E84"/>
                </a:solidFill>
                <a:latin typeface="Arial" pitchFamily="34" charset="0"/>
                <a:ea typeface="Arial" pitchFamily="34" charset="-122"/>
                <a:cs typeface="Arial" pitchFamily="34" charset="-120"/>
              </a:rPr>
              <a:t>1</a:t>
            </a:r>
            <a:endParaRPr lang="en-US" sz="2000" dirty="0"/>
          </a:p>
        </p:txBody>
      </p:sp>
      <p:sp>
        <p:nvSpPr>
          <p:cNvPr id="18" name="Text 16"/>
          <p:cNvSpPr/>
          <p:nvPr/>
        </p:nvSpPr>
        <p:spPr>
          <a:xfrm>
            <a:off x="1463040" y="2048256"/>
            <a:ext cx="978408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embed 22 sections · create vector + fulltext indexes</a:t>
            </a:r>
            <a:endParaRPr lang="en-US" sz="1400" dirty="0"/>
          </a:p>
        </p:txBody>
      </p:sp>
      <p:sp>
        <p:nvSpPr>
          <p:cNvPr id="19" name="Text 17"/>
          <p:cNvSpPr/>
          <p:nvPr/>
        </p:nvSpPr>
        <p:spPr>
          <a:xfrm>
            <a:off x="1463040" y="2395728"/>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okf_graph embed pass → neo4j-graphrag create_vector_index</a:t>
            </a:r>
            <a:endParaRPr lang="en-US" sz="1150" dirty="0"/>
          </a:p>
        </p:txBody>
      </p:sp>
      <p:sp>
        <p:nvSpPr>
          <p:cNvPr id="20" name="Shape 18"/>
          <p:cNvSpPr/>
          <p:nvPr/>
        </p:nvSpPr>
        <p:spPr>
          <a:xfrm>
            <a:off x="685800" y="2944368"/>
            <a:ext cx="10789920" cy="859536"/>
          </a:xfrm>
          <a:prstGeom prst="roundRect">
            <a:avLst>
              <a:gd name="adj" fmla="val 9574"/>
            </a:avLst>
          </a:prstGeom>
          <a:solidFill>
            <a:srgbClr val="17293F"/>
          </a:solidFill>
          <a:ln w="12700">
            <a:solidFill>
              <a:srgbClr val="2C4258"/>
            </a:solidFill>
            <a:prstDash val="solid"/>
          </a:ln>
        </p:spPr>
      </p:sp>
      <p:sp>
        <p:nvSpPr>
          <p:cNvPr id="21" name="Text 19"/>
          <p:cNvSpPr/>
          <p:nvPr/>
        </p:nvSpPr>
        <p:spPr>
          <a:xfrm>
            <a:off x="914400" y="3145536"/>
            <a:ext cx="457200" cy="457200"/>
          </a:xfrm>
          <a:prstGeom prst="rect">
            <a:avLst/>
          </a:prstGeom>
          <a:noFill/>
          <a:ln/>
        </p:spPr>
        <p:txBody>
          <a:bodyPr wrap="square" lIns="0" tIns="0" rIns="0" bIns="0" rtlCol="0" anchor="ctr"/>
          <a:lstStyle/>
          <a:p>
            <a:pPr indent="0" marL="0">
              <a:buNone/>
            </a:pPr>
            <a:r>
              <a:rPr lang="en-US" sz="2000" b="1" dirty="0">
                <a:solidFill>
                  <a:srgbClr val="159E84"/>
                </a:solidFill>
                <a:latin typeface="Arial" pitchFamily="34" charset="0"/>
                <a:ea typeface="Arial" pitchFamily="34" charset="-122"/>
                <a:cs typeface="Arial" pitchFamily="34" charset="-120"/>
              </a:rPr>
              <a:t>2</a:t>
            </a:r>
            <a:endParaRPr lang="en-US" sz="2000" dirty="0"/>
          </a:p>
        </p:txBody>
      </p:sp>
      <p:sp>
        <p:nvSpPr>
          <p:cNvPr id="22" name="Text 20"/>
          <p:cNvSpPr/>
          <p:nvPr/>
        </p:nvSpPr>
        <p:spPr>
          <a:xfrm>
            <a:off x="1463040" y="3072384"/>
            <a:ext cx="978408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ASK: “How do we calculate gross margin, exactly?”</a:t>
            </a:r>
            <a:endParaRPr lang="en-US" sz="1400" dirty="0"/>
          </a:p>
        </p:txBody>
      </p:sp>
      <p:sp>
        <p:nvSpPr>
          <p:cNvPr id="23" name="Text 21"/>
          <p:cNvSpPr/>
          <p:nvPr/>
        </p:nvSpPr>
        <p:spPr>
          <a:xfrm>
            <a:off x="1463040" y="3419856"/>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baseline VectorRetriever — watch the deprecated section outrank the current one</a:t>
            </a:r>
            <a:endParaRPr lang="en-US" sz="1150" dirty="0"/>
          </a:p>
        </p:txBody>
      </p:sp>
      <p:sp>
        <p:nvSpPr>
          <p:cNvPr id="24" name="Shape 22"/>
          <p:cNvSpPr/>
          <p:nvPr/>
        </p:nvSpPr>
        <p:spPr>
          <a:xfrm>
            <a:off x="685800" y="3968496"/>
            <a:ext cx="10789920" cy="859536"/>
          </a:xfrm>
          <a:prstGeom prst="roundRect">
            <a:avLst>
              <a:gd name="adj" fmla="val 9574"/>
            </a:avLst>
          </a:prstGeom>
          <a:solidFill>
            <a:srgbClr val="17293F"/>
          </a:solidFill>
          <a:ln w="12700">
            <a:solidFill>
              <a:srgbClr val="2C4258"/>
            </a:solidFill>
            <a:prstDash val="solid"/>
          </a:ln>
        </p:spPr>
      </p:sp>
      <p:sp>
        <p:nvSpPr>
          <p:cNvPr id="25" name="Text 23"/>
          <p:cNvSpPr/>
          <p:nvPr/>
        </p:nvSpPr>
        <p:spPr>
          <a:xfrm>
            <a:off x="914400" y="4169664"/>
            <a:ext cx="457200" cy="457200"/>
          </a:xfrm>
          <a:prstGeom prst="rect">
            <a:avLst/>
          </a:prstGeom>
          <a:noFill/>
          <a:ln/>
        </p:spPr>
        <p:txBody>
          <a:bodyPr wrap="square" lIns="0" tIns="0" rIns="0" bIns="0" rtlCol="0" anchor="ctr"/>
          <a:lstStyle/>
          <a:p>
            <a:pPr indent="0" marL="0">
              <a:buNone/>
            </a:pPr>
            <a:r>
              <a:rPr lang="en-US" sz="2000" b="1" dirty="0">
                <a:solidFill>
                  <a:srgbClr val="159E84"/>
                </a:solidFill>
                <a:latin typeface="Arial" pitchFamily="34" charset="0"/>
                <a:ea typeface="Arial" pitchFamily="34" charset="-122"/>
                <a:cs typeface="Arial" pitchFamily="34" charset="-120"/>
              </a:rPr>
              <a:t>3</a:t>
            </a:r>
            <a:endParaRPr lang="en-US" sz="2000" dirty="0"/>
          </a:p>
        </p:txBody>
      </p:sp>
      <p:sp>
        <p:nvSpPr>
          <p:cNvPr id="26" name="Text 24"/>
          <p:cNvSpPr/>
          <p:nvPr/>
        </p:nvSpPr>
        <p:spPr>
          <a:xfrm>
            <a:off x="1463040" y="4096512"/>
            <a:ext cx="978408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same question, VectorCypherRetriever</a:t>
            </a:r>
            <a:endParaRPr lang="en-US" sz="1400" dirty="0"/>
          </a:p>
        </p:txBody>
      </p:sp>
      <p:sp>
        <p:nvSpPr>
          <p:cNvPr id="27" name="Text 25"/>
          <p:cNvSpPr/>
          <p:nvPr/>
        </p:nvSpPr>
        <p:spPr>
          <a:xfrm>
            <a:off x="1463040" y="4443984"/>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governed context: SUPERSEDED BY · trust · freshness · sanctioned SQL — answer cites policy</a:t>
            </a:r>
            <a:endParaRPr lang="en-US" sz="1150" dirty="0"/>
          </a:p>
        </p:txBody>
      </p:sp>
      <p:sp>
        <p:nvSpPr>
          <p:cNvPr id="28" name="Shape 26"/>
          <p:cNvSpPr/>
          <p:nvPr/>
        </p:nvSpPr>
        <p:spPr>
          <a:xfrm>
            <a:off x="685800" y="4992624"/>
            <a:ext cx="10789920" cy="859536"/>
          </a:xfrm>
          <a:prstGeom prst="roundRect">
            <a:avLst>
              <a:gd name="adj" fmla="val 9574"/>
            </a:avLst>
          </a:prstGeom>
          <a:solidFill>
            <a:srgbClr val="17293F"/>
          </a:solidFill>
          <a:ln w="12700">
            <a:solidFill>
              <a:srgbClr val="2C4258"/>
            </a:solidFill>
            <a:prstDash val="solid"/>
          </a:ln>
        </p:spPr>
      </p:sp>
      <p:sp>
        <p:nvSpPr>
          <p:cNvPr id="29" name="Text 27"/>
          <p:cNvSpPr/>
          <p:nvPr/>
        </p:nvSpPr>
        <p:spPr>
          <a:xfrm>
            <a:off x="914400" y="5193792"/>
            <a:ext cx="457200" cy="457200"/>
          </a:xfrm>
          <a:prstGeom prst="rect">
            <a:avLst/>
          </a:prstGeom>
          <a:noFill/>
          <a:ln/>
        </p:spPr>
        <p:txBody>
          <a:bodyPr wrap="square" lIns="0" tIns="0" rIns="0" bIns="0" rtlCol="0" anchor="ctr"/>
          <a:lstStyle/>
          <a:p>
            <a:pPr indent="0" marL="0">
              <a:buNone/>
            </a:pPr>
            <a:r>
              <a:rPr lang="en-US" sz="2000" b="1" dirty="0">
                <a:solidFill>
                  <a:srgbClr val="159E84"/>
                </a:solidFill>
                <a:latin typeface="Arial" pitchFamily="34" charset="0"/>
                <a:ea typeface="Arial" pitchFamily="34" charset="-122"/>
                <a:cs typeface="Arial" pitchFamily="34" charset="-120"/>
              </a:rPr>
              <a:t>4</a:t>
            </a:r>
            <a:endParaRPr lang="en-US" sz="2000" dirty="0"/>
          </a:p>
        </p:txBody>
      </p:sp>
      <p:sp>
        <p:nvSpPr>
          <p:cNvPr id="30" name="Text 28"/>
          <p:cNvSpPr/>
          <p:nvPr/>
        </p:nvSpPr>
        <p:spPr>
          <a:xfrm>
            <a:off x="1463040" y="5120640"/>
            <a:ext cx="978408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Text2Cypher: “what breaks if orders changes?”</a:t>
            </a:r>
            <a:endParaRPr lang="en-US" sz="1400" dirty="0"/>
          </a:p>
        </p:txBody>
      </p:sp>
      <p:sp>
        <p:nvSpPr>
          <p:cNvPr id="31" name="Text 29"/>
          <p:cNvSpPr/>
          <p:nvPr/>
        </p:nvSpPr>
        <p:spPr>
          <a:xfrm>
            <a:off x="1463040" y="5468112"/>
            <a:ext cx="9784080" cy="310896"/>
          </a:xfrm>
          <a:prstGeom prst="rect">
            <a:avLst/>
          </a:prstGeom>
          <a:noFill/>
          <a:ln/>
        </p:spPr>
        <p:txBody>
          <a:bodyPr wrap="square" lIns="0" tIns="0" rIns="0" bIns="0" rtlCol="0" anchor="ctr"/>
          <a:lstStyle/>
          <a:p>
            <a:pPr indent="0" marL="0">
              <a:buNone/>
            </a:pPr>
            <a:r>
              <a:rPr lang="en-US" sz="1150" dirty="0">
                <a:solidFill>
                  <a:srgbClr val="9FB2CC"/>
                </a:solidFill>
                <a:latin typeface="Arial" pitchFamily="34" charset="0"/>
                <a:ea typeface="Arial" pitchFamily="34" charset="-122"/>
                <a:cs typeface="Arial" pitchFamily="34" charset="-120"/>
              </a:rPr>
              <a:t>generated Cypher shown, rows returned — no embeddings involved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21</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BEYOND · CONSTRUCTION MODES</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Deterministic structure + LLM extraction, one graph</a:t>
            </a:r>
            <a:endParaRPr lang="en-US" sz="3000" dirty="0"/>
          </a:p>
        </p:txBody>
      </p:sp>
      <p:pic>
        <p:nvPicPr>
          <p:cNvPr id="6" name="Image 0" descr="/home/claude/neo4j-okf/slides/diagrams/d11_layers.png">    </p:cNvPr>
          <p:cNvPicPr>
            <a:picLocks noChangeAspect="1"/>
          </p:cNvPicPr>
          <p:nvPr/>
        </p:nvPicPr>
        <p:blipFill>
          <a:blip r:embed="rId1"/>
          <a:stretch>
            <a:fillRect/>
          </a:stretch>
        </p:blipFill>
        <p:spPr>
          <a:xfrm>
            <a:off x="504292" y="1371600"/>
            <a:ext cx="11183112" cy="4286860"/>
          </a:xfrm>
          <a:prstGeom prst="rect">
            <a:avLst/>
          </a:prstGeom>
        </p:spPr>
      </p:pic>
      <p:sp>
        <p:nvSpPr>
          <p:cNvPr id="7" name="Text 4"/>
          <p:cNvSpPr/>
          <p:nvPr/>
        </p:nvSpPr>
        <p:spPr>
          <a:xfrm>
            <a:off x="502920" y="6053328"/>
            <a:ext cx="11155680" cy="457200"/>
          </a:xfrm>
          <a:prstGeom prst="rect">
            <a:avLst/>
          </a:prstGeom>
          <a:noFill/>
          <a:ln/>
        </p:spPr>
        <p:txBody>
          <a:bodyPr wrap="square" lIns="0" tIns="0" rIns="0" bIns="0" rtlCol="0" anchor="ctr"/>
          <a:lstStyle/>
          <a:p>
            <a:pPr algn="ctr" indent="0" marL="0">
              <a:buNone/>
            </a:pPr>
            <a:r>
              <a:rPr lang="en-US" sz="1250" dirty="0">
                <a:solidFill>
                  <a:srgbClr val="5B6B82"/>
                </a:solidFill>
                <a:latin typeface="Arial" pitchFamily="34" charset="0"/>
                <a:ea typeface="Arial" pitchFamily="34" charset="-122"/>
                <a:cs typeface="Arial" pitchFamily="34" charset="-120"/>
              </a:rPr>
              <a:t>SimpleKGPipeline (same package) extracts CostComponent / PolicyRule / Team entities from the policy prose — connecting concepts that never explicitly link.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A9B7CB"/>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A9B7CB"/>
                </a:solidFill>
                <a:latin typeface="Arial" pitchFamily="34" charset="0"/>
                <a:ea typeface="Arial" pitchFamily="34" charset="-122"/>
                <a:cs typeface="Arial" pitchFamily="34" charset="-120"/>
              </a:rPr>
              <a:t>22</a:t>
            </a:r>
            <a:endParaRPr lang="en-US" sz="850" dirty="0"/>
          </a:p>
        </p:txBody>
      </p:sp>
      <p:sp>
        <p:nvSpPr>
          <p:cNvPr id="4" name="Text 2"/>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300" kern="0" dirty="0">
                <a:solidFill>
                  <a:srgbClr val="2D6CDF"/>
                </a:solidFill>
                <a:latin typeface="Arial" pitchFamily="34" charset="0"/>
                <a:ea typeface="Arial" pitchFamily="34" charset="-122"/>
                <a:cs typeface="Arial" pitchFamily="34" charset="-120"/>
              </a:rPr>
              <a:t>CLOSING</a:t>
            </a:r>
            <a:endParaRPr lang="en-US" sz="1100" dirty="0"/>
          </a:p>
        </p:txBody>
      </p:sp>
      <p:sp>
        <p:nvSpPr>
          <p:cNvPr id="5" name="Text 3"/>
          <p:cNvSpPr/>
          <p:nvPr/>
        </p:nvSpPr>
        <p:spPr>
          <a:xfrm>
            <a:off x="502920" y="530352"/>
            <a:ext cx="11155680" cy="658368"/>
          </a:xfrm>
          <a:prstGeom prst="rect">
            <a:avLst/>
          </a:prstGeom>
          <a:noFill/>
          <a:ln/>
        </p:spPr>
        <p:txBody>
          <a:bodyPr wrap="square" lIns="0" tIns="0" rIns="0" bIns="0" rtlCol="0" anchor="ctr"/>
          <a:lstStyle/>
          <a:p>
            <a:pPr indent="0" marL="0">
              <a:buNone/>
            </a:pPr>
            <a:r>
              <a:rPr lang="en-US" sz="3000" b="1" dirty="0">
                <a:solidFill>
                  <a:srgbClr val="16243B"/>
                </a:solidFill>
                <a:latin typeface="Arial" pitchFamily="34" charset="0"/>
                <a:ea typeface="Arial" pitchFamily="34" charset="-122"/>
                <a:cs typeface="Arial" pitchFamily="34" charset="-120"/>
              </a:rPr>
              <a:t>What to take home</a:t>
            </a:r>
            <a:endParaRPr lang="en-US" sz="3000" dirty="0"/>
          </a:p>
        </p:txBody>
      </p:sp>
      <p:sp>
        <p:nvSpPr>
          <p:cNvPr id="6" name="Shape 4"/>
          <p:cNvSpPr/>
          <p:nvPr/>
        </p:nvSpPr>
        <p:spPr>
          <a:xfrm>
            <a:off x="502920" y="1600200"/>
            <a:ext cx="3657600" cy="4343400"/>
          </a:xfrm>
          <a:prstGeom prst="roundRect">
            <a:avLst>
              <a:gd name="adj" fmla="val 3000"/>
            </a:avLst>
          </a:prstGeom>
          <a:solidFill>
            <a:srgbClr val="F2F6FB"/>
          </a:solidFill>
          <a:ln w="12700">
            <a:solidFill>
              <a:srgbClr val="C9D4E3"/>
            </a:solidFill>
            <a:prstDash val="solid"/>
          </a:ln>
        </p:spPr>
      </p:sp>
      <p:sp>
        <p:nvSpPr>
          <p:cNvPr id="7" name="Text 5"/>
          <p:cNvSpPr/>
          <p:nvPr/>
        </p:nvSpPr>
        <p:spPr>
          <a:xfrm>
            <a:off x="731520" y="1810512"/>
            <a:ext cx="3200400" cy="365760"/>
          </a:xfrm>
          <a:prstGeom prst="rect">
            <a:avLst/>
          </a:prstGeom>
          <a:noFill/>
          <a:ln/>
        </p:spPr>
        <p:txBody>
          <a:bodyPr wrap="square" lIns="0" tIns="0" rIns="0" bIns="0" rtlCol="0" anchor="ctr"/>
          <a:lstStyle/>
          <a:p>
            <a:pPr indent="0" marL="0">
              <a:buNone/>
            </a:pPr>
            <a:r>
              <a:rPr lang="en-US" sz="1650" b="1" dirty="0">
                <a:solidFill>
                  <a:srgbClr val="2D6CDF"/>
                </a:solidFill>
                <a:latin typeface="Arial" pitchFamily="34" charset="0"/>
                <a:ea typeface="Arial" pitchFamily="34" charset="-122"/>
                <a:cs typeface="Arial" pitchFamily="34" charset="-120"/>
              </a:rPr>
              <a:t>For your data estate</a:t>
            </a:r>
            <a:endParaRPr lang="en-US" sz="1650" dirty="0"/>
          </a:p>
        </p:txBody>
      </p:sp>
      <p:sp>
        <p:nvSpPr>
          <p:cNvPr id="8" name="Shape 6"/>
          <p:cNvSpPr/>
          <p:nvPr/>
        </p:nvSpPr>
        <p:spPr>
          <a:xfrm>
            <a:off x="749808" y="2395728"/>
            <a:ext cx="100584" cy="100584"/>
          </a:xfrm>
          <a:prstGeom prst="ellipse">
            <a:avLst/>
          </a:prstGeom>
          <a:solidFill>
            <a:srgbClr val="2D6CDF"/>
          </a:solidFill>
          <a:ln/>
        </p:spPr>
      </p:sp>
      <p:sp>
        <p:nvSpPr>
          <p:cNvPr id="9" name="Text 7"/>
          <p:cNvSpPr/>
          <p:nvPr/>
        </p:nvSpPr>
        <p:spPr>
          <a:xfrm>
            <a:off x="978408" y="2331720"/>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OKF is a low-friction interchange: catalogs, wikis, agents all write files</a:t>
            </a:r>
            <a:endParaRPr lang="en-US" sz="1200" dirty="0"/>
          </a:p>
        </p:txBody>
      </p:sp>
      <p:sp>
        <p:nvSpPr>
          <p:cNvPr id="10" name="Shape 8"/>
          <p:cNvSpPr/>
          <p:nvPr/>
        </p:nvSpPr>
        <p:spPr>
          <a:xfrm>
            <a:off x="749808" y="3566160"/>
            <a:ext cx="100584" cy="100584"/>
          </a:xfrm>
          <a:prstGeom prst="ellipse">
            <a:avLst/>
          </a:prstGeom>
          <a:solidFill>
            <a:srgbClr val="2D6CDF"/>
          </a:solidFill>
          <a:ln/>
        </p:spPr>
      </p:sp>
      <p:sp>
        <p:nvSpPr>
          <p:cNvPr id="11" name="Text 9"/>
          <p:cNvSpPr/>
          <p:nvPr/>
        </p:nvSpPr>
        <p:spPr>
          <a:xfrm>
            <a:off x="978408" y="3502152"/>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One Cypher layer turns those files into serve/no-serve verdicts, impact analysis, provenance chains</a:t>
            </a:r>
            <a:endParaRPr lang="en-US" sz="1200" dirty="0"/>
          </a:p>
        </p:txBody>
      </p:sp>
      <p:sp>
        <p:nvSpPr>
          <p:cNvPr id="12" name="Shape 10"/>
          <p:cNvSpPr/>
          <p:nvPr/>
        </p:nvSpPr>
        <p:spPr>
          <a:xfrm>
            <a:off x="749808" y="4736592"/>
            <a:ext cx="100584" cy="100584"/>
          </a:xfrm>
          <a:prstGeom prst="ellipse">
            <a:avLst/>
          </a:prstGeom>
          <a:solidFill>
            <a:srgbClr val="2D6CDF"/>
          </a:solidFill>
          <a:ln/>
        </p:spPr>
      </p:sp>
      <p:sp>
        <p:nvSpPr>
          <p:cNvPr id="13" name="Text 11"/>
          <p:cNvSpPr/>
          <p:nvPr/>
        </p:nvSpPr>
        <p:spPr>
          <a:xfrm>
            <a:off x="978408" y="4672584"/>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Multi-bundle by construction — bundle is just a property</a:t>
            </a:r>
            <a:endParaRPr lang="en-US" sz="1200" dirty="0"/>
          </a:p>
        </p:txBody>
      </p:sp>
      <p:sp>
        <p:nvSpPr>
          <p:cNvPr id="14" name="Shape 12"/>
          <p:cNvSpPr/>
          <p:nvPr/>
        </p:nvSpPr>
        <p:spPr>
          <a:xfrm>
            <a:off x="4261104" y="1600200"/>
            <a:ext cx="3657600" cy="4343400"/>
          </a:xfrm>
          <a:prstGeom prst="roundRect">
            <a:avLst>
              <a:gd name="adj" fmla="val 3000"/>
            </a:avLst>
          </a:prstGeom>
          <a:solidFill>
            <a:srgbClr val="F2F6FB"/>
          </a:solidFill>
          <a:ln w="12700">
            <a:solidFill>
              <a:srgbClr val="C9D4E3"/>
            </a:solidFill>
            <a:prstDash val="solid"/>
          </a:ln>
        </p:spPr>
      </p:sp>
      <p:sp>
        <p:nvSpPr>
          <p:cNvPr id="15" name="Text 13"/>
          <p:cNvSpPr/>
          <p:nvPr/>
        </p:nvSpPr>
        <p:spPr>
          <a:xfrm>
            <a:off x="4489704" y="1810512"/>
            <a:ext cx="3200400" cy="365760"/>
          </a:xfrm>
          <a:prstGeom prst="rect">
            <a:avLst/>
          </a:prstGeom>
          <a:noFill/>
          <a:ln/>
        </p:spPr>
        <p:txBody>
          <a:bodyPr wrap="square" lIns="0" tIns="0" rIns="0" bIns="0" rtlCol="0" anchor="ctr"/>
          <a:lstStyle/>
          <a:p>
            <a:pPr indent="0" marL="0">
              <a:buNone/>
            </a:pPr>
            <a:r>
              <a:rPr lang="en-US" sz="1650" b="1" dirty="0">
                <a:solidFill>
                  <a:srgbClr val="159E84"/>
                </a:solidFill>
                <a:latin typeface="Arial" pitchFamily="34" charset="0"/>
                <a:ea typeface="Arial" pitchFamily="34" charset="-122"/>
                <a:cs typeface="Arial" pitchFamily="34" charset="-120"/>
              </a:rPr>
              <a:t>For your RAG stack</a:t>
            </a:r>
            <a:endParaRPr lang="en-US" sz="1650" dirty="0"/>
          </a:p>
        </p:txBody>
      </p:sp>
      <p:sp>
        <p:nvSpPr>
          <p:cNvPr id="16" name="Shape 14"/>
          <p:cNvSpPr/>
          <p:nvPr/>
        </p:nvSpPr>
        <p:spPr>
          <a:xfrm>
            <a:off x="4507992" y="2395728"/>
            <a:ext cx="100584" cy="100584"/>
          </a:xfrm>
          <a:prstGeom prst="ellipse">
            <a:avLst/>
          </a:prstGeom>
          <a:solidFill>
            <a:srgbClr val="159E84"/>
          </a:solidFill>
          <a:ln/>
        </p:spPr>
      </p:sp>
      <p:sp>
        <p:nvSpPr>
          <p:cNvPr id="17" name="Text 15"/>
          <p:cNvSpPr/>
          <p:nvPr/>
        </p:nvSpPr>
        <p:spPr>
          <a:xfrm>
            <a:off x="4736592" y="2331720"/>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Chunking on authored sections beats fixed windows — the format hands it to you</a:t>
            </a:r>
            <a:endParaRPr lang="en-US" sz="1200" dirty="0"/>
          </a:p>
        </p:txBody>
      </p:sp>
      <p:sp>
        <p:nvSpPr>
          <p:cNvPr id="18" name="Shape 16"/>
          <p:cNvSpPr/>
          <p:nvPr/>
        </p:nvSpPr>
        <p:spPr>
          <a:xfrm>
            <a:off x="4507992" y="3566160"/>
            <a:ext cx="100584" cy="100584"/>
          </a:xfrm>
          <a:prstGeom prst="ellipse">
            <a:avLst/>
          </a:prstGeom>
          <a:solidFill>
            <a:srgbClr val="159E84"/>
          </a:solidFill>
          <a:ln/>
        </p:spPr>
      </p:sp>
      <p:sp>
        <p:nvSpPr>
          <p:cNvPr id="19" name="Text 17"/>
          <p:cNvSpPr/>
          <p:nvPr/>
        </p:nvSpPr>
        <p:spPr>
          <a:xfrm>
            <a:off x="4736592" y="3502152"/>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Similarity ≠ governance: anchor with vectors, assemble context with the graph</a:t>
            </a:r>
            <a:endParaRPr lang="en-US" sz="1200" dirty="0"/>
          </a:p>
        </p:txBody>
      </p:sp>
      <p:sp>
        <p:nvSpPr>
          <p:cNvPr id="20" name="Shape 18"/>
          <p:cNvSpPr/>
          <p:nvPr/>
        </p:nvSpPr>
        <p:spPr>
          <a:xfrm>
            <a:off x="4507992" y="4736592"/>
            <a:ext cx="100584" cy="100584"/>
          </a:xfrm>
          <a:prstGeom prst="ellipse">
            <a:avLst/>
          </a:prstGeom>
          <a:solidFill>
            <a:srgbClr val="159E84"/>
          </a:solidFill>
          <a:ln/>
        </p:spPr>
      </p:sp>
      <p:sp>
        <p:nvSpPr>
          <p:cNvPr id="21" name="Text 19"/>
          <p:cNvSpPr/>
          <p:nvPr/>
        </p:nvSpPr>
        <p:spPr>
          <a:xfrm>
            <a:off x="4736592" y="4672584"/>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One package (neo4j-graphrag): indexes, 3 retriever families, GraphRAG, KG builder</a:t>
            </a:r>
            <a:endParaRPr lang="en-US" sz="1200" dirty="0"/>
          </a:p>
        </p:txBody>
      </p:sp>
      <p:sp>
        <p:nvSpPr>
          <p:cNvPr id="22" name="Shape 20"/>
          <p:cNvSpPr/>
          <p:nvPr/>
        </p:nvSpPr>
        <p:spPr>
          <a:xfrm>
            <a:off x="8019288" y="1600200"/>
            <a:ext cx="3657600" cy="4343400"/>
          </a:xfrm>
          <a:prstGeom prst="roundRect">
            <a:avLst>
              <a:gd name="adj" fmla="val 3000"/>
            </a:avLst>
          </a:prstGeom>
          <a:solidFill>
            <a:srgbClr val="F2F6FB"/>
          </a:solidFill>
          <a:ln w="12700">
            <a:solidFill>
              <a:srgbClr val="C9D4E3"/>
            </a:solidFill>
            <a:prstDash val="solid"/>
          </a:ln>
        </p:spPr>
      </p:sp>
      <p:sp>
        <p:nvSpPr>
          <p:cNvPr id="23" name="Text 21"/>
          <p:cNvSpPr/>
          <p:nvPr/>
        </p:nvSpPr>
        <p:spPr>
          <a:xfrm>
            <a:off x="8247888" y="1810512"/>
            <a:ext cx="3200400" cy="365760"/>
          </a:xfrm>
          <a:prstGeom prst="rect">
            <a:avLst/>
          </a:prstGeom>
          <a:noFill/>
          <a:ln/>
        </p:spPr>
        <p:txBody>
          <a:bodyPr wrap="square" lIns="0" tIns="0" rIns="0" bIns="0" rtlCol="0" anchor="ctr"/>
          <a:lstStyle/>
          <a:p>
            <a:pPr indent="0" marL="0">
              <a:buNone/>
            </a:pPr>
            <a:r>
              <a:rPr lang="en-US" sz="1650" b="1" dirty="0">
                <a:solidFill>
                  <a:srgbClr val="7C5CD6"/>
                </a:solidFill>
                <a:latin typeface="Arial" pitchFamily="34" charset="0"/>
                <a:ea typeface="Arial" pitchFamily="34" charset="-122"/>
                <a:cs typeface="Arial" pitchFamily="34" charset="-120"/>
              </a:rPr>
              <a:t>For your agents</a:t>
            </a:r>
            <a:endParaRPr lang="en-US" sz="1650" dirty="0"/>
          </a:p>
        </p:txBody>
      </p:sp>
      <p:sp>
        <p:nvSpPr>
          <p:cNvPr id="24" name="Shape 22"/>
          <p:cNvSpPr/>
          <p:nvPr/>
        </p:nvSpPr>
        <p:spPr>
          <a:xfrm>
            <a:off x="8266176" y="2395728"/>
            <a:ext cx="100584" cy="100584"/>
          </a:xfrm>
          <a:prstGeom prst="ellipse">
            <a:avLst/>
          </a:prstGeom>
          <a:solidFill>
            <a:srgbClr val="7C5CD6"/>
          </a:solidFill>
          <a:ln/>
        </p:spPr>
      </p:sp>
      <p:sp>
        <p:nvSpPr>
          <p:cNvPr id="25" name="Text 23"/>
          <p:cNvSpPr/>
          <p:nvPr/>
        </p:nvSpPr>
        <p:spPr>
          <a:xfrm>
            <a:off x="8494776" y="2331720"/>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Trust tiers + stale_after become retrieval-time FILTERS, not documentation</a:t>
            </a:r>
            <a:endParaRPr lang="en-US" sz="1200" dirty="0"/>
          </a:p>
        </p:txBody>
      </p:sp>
      <p:sp>
        <p:nvSpPr>
          <p:cNvPr id="26" name="Shape 24"/>
          <p:cNvSpPr/>
          <p:nvPr/>
        </p:nvSpPr>
        <p:spPr>
          <a:xfrm>
            <a:off x="8266176" y="3566160"/>
            <a:ext cx="100584" cy="100584"/>
          </a:xfrm>
          <a:prstGeom prst="ellipse">
            <a:avLst/>
          </a:prstGeom>
          <a:solidFill>
            <a:srgbClr val="7C5CD6"/>
          </a:solidFill>
          <a:ln/>
        </p:spPr>
      </p:sp>
      <p:sp>
        <p:nvSpPr>
          <p:cNvPr id="27" name="Text 25"/>
          <p:cNvSpPr/>
          <p:nvPr/>
        </p:nvSpPr>
        <p:spPr>
          <a:xfrm>
            <a:off x="8494776" y="3502152"/>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Attested computations: agents bind parameters, never author SQL</a:t>
            </a:r>
            <a:endParaRPr lang="en-US" sz="1200" dirty="0"/>
          </a:p>
        </p:txBody>
      </p:sp>
      <p:sp>
        <p:nvSpPr>
          <p:cNvPr id="28" name="Shape 26"/>
          <p:cNvSpPr/>
          <p:nvPr/>
        </p:nvSpPr>
        <p:spPr>
          <a:xfrm>
            <a:off x="8266176" y="4736592"/>
            <a:ext cx="100584" cy="100584"/>
          </a:xfrm>
          <a:prstGeom prst="ellipse">
            <a:avLst/>
          </a:prstGeom>
          <a:solidFill>
            <a:srgbClr val="7C5CD6"/>
          </a:solidFill>
          <a:ln/>
        </p:spPr>
      </p:sp>
      <p:sp>
        <p:nvSpPr>
          <p:cNvPr id="29" name="Text 27"/>
          <p:cNvSpPr/>
          <p:nvPr/>
        </p:nvSpPr>
        <p:spPr>
          <a:xfrm>
            <a:off x="8494776" y="4672584"/>
            <a:ext cx="3035808" cy="1051560"/>
          </a:xfrm>
          <a:prstGeom prst="rect">
            <a:avLst/>
          </a:prstGeom>
          <a:noFill/>
          <a:ln/>
        </p:spPr>
        <p:txBody>
          <a:bodyPr wrap="square" lIns="0" tIns="0" rIns="0" bIns="0" rtlCol="0" anchor="ctr"/>
          <a:lstStyle/>
          <a:p>
            <a:pPr indent="0" marL="0">
              <a:buNone/>
            </a:pPr>
            <a:r>
              <a:rPr lang="en-US" sz="1200" dirty="0">
                <a:solidFill>
                  <a:srgbClr val="16243B"/>
                </a:solidFill>
                <a:latin typeface="Arial" pitchFamily="34" charset="0"/>
                <a:ea typeface="Arial" pitchFamily="34" charset="-122"/>
                <a:cs typeface="Arial" pitchFamily="34" charset="-120"/>
              </a:rPr>
              <a:t>The graph is the context service OKF says every org keeps rebuilding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02920" y="6528816"/>
            <a:ext cx="2743200" cy="274320"/>
          </a:xfrm>
          <a:prstGeom prst="rect">
            <a:avLst/>
          </a:prstGeom>
          <a:noFill/>
          <a:ln/>
        </p:spPr>
        <p:txBody>
          <a:bodyPr wrap="square" lIns="0" tIns="0" rIns="0" bIns="0" rtlCol="0" anchor="ctr"/>
          <a:lstStyle/>
          <a:p>
            <a:pPr algn="l" indent="0" marL="0">
              <a:buNone/>
            </a:pPr>
            <a:r>
              <a:rPr lang="en-US" sz="850" dirty="0">
                <a:solidFill>
                  <a:srgbClr val="5F7390"/>
                </a:solidFill>
                <a:latin typeface="Arial" pitchFamily="34" charset="0"/>
                <a:ea typeface="Arial" pitchFamily="34" charset="-122"/>
                <a:cs typeface="Arial" pitchFamily="34" charset="-120"/>
              </a:rPr>
              <a:t>OKF × Neo4j</a:t>
            </a:r>
            <a:endParaRPr lang="en-US" sz="850" dirty="0"/>
          </a:p>
        </p:txBody>
      </p:sp>
      <p:sp>
        <p:nvSpPr>
          <p:cNvPr id="3" name="Text 1"/>
          <p:cNvSpPr/>
          <p:nvPr/>
        </p:nvSpPr>
        <p:spPr>
          <a:xfrm>
            <a:off x="11475720" y="6528816"/>
            <a:ext cx="457200" cy="274320"/>
          </a:xfrm>
          <a:prstGeom prst="rect">
            <a:avLst/>
          </a:prstGeom>
          <a:noFill/>
          <a:ln/>
        </p:spPr>
        <p:txBody>
          <a:bodyPr wrap="square" lIns="0" tIns="0" rIns="0" bIns="0" rtlCol="0" anchor="ctr"/>
          <a:lstStyle/>
          <a:p>
            <a:pPr algn="r" indent="0" marL="0">
              <a:buNone/>
            </a:pPr>
            <a:r>
              <a:rPr lang="en-US" sz="850" dirty="0">
                <a:solidFill>
                  <a:srgbClr val="5F7390"/>
                </a:solidFill>
                <a:latin typeface="Arial" pitchFamily="34" charset="0"/>
                <a:ea typeface="Arial" pitchFamily="34" charset="-122"/>
                <a:cs typeface="Arial" pitchFamily="34" charset="-120"/>
              </a:rPr>
              <a:t>23</a:t>
            </a:r>
            <a:endParaRPr lang="en-US" sz="850" dirty="0"/>
          </a:p>
        </p:txBody>
      </p:sp>
      <p:sp>
        <p:nvSpPr>
          <p:cNvPr id="4" name="Shape 2"/>
          <p:cNvSpPr/>
          <p:nvPr/>
        </p:nvSpPr>
        <p:spPr>
          <a:xfrm flipV="1">
            <a:off x="10378440" y="4919472"/>
            <a:ext cx="1051560" cy="475488"/>
          </a:xfrm>
          <a:prstGeom prst="line">
            <a:avLst/>
          </a:prstGeom>
          <a:noFill/>
          <a:ln w="17780">
            <a:solidFill>
              <a:srgbClr val="3E5578"/>
            </a:solidFill>
            <a:prstDash val="solid"/>
          </a:ln>
        </p:spPr>
      </p:sp>
      <p:sp>
        <p:nvSpPr>
          <p:cNvPr id="5" name="Shape 3"/>
          <p:cNvSpPr/>
          <p:nvPr/>
        </p:nvSpPr>
        <p:spPr>
          <a:xfrm>
            <a:off x="10378440" y="5394960"/>
            <a:ext cx="960120" cy="566928"/>
          </a:xfrm>
          <a:prstGeom prst="line">
            <a:avLst/>
          </a:prstGeom>
          <a:noFill/>
          <a:ln w="17780">
            <a:solidFill>
              <a:srgbClr val="3E5578"/>
            </a:solidFill>
            <a:prstDash val="solid"/>
          </a:ln>
        </p:spPr>
      </p:sp>
      <p:sp>
        <p:nvSpPr>
          <p:cNvPr id="6" name="Shape 4"/>
          <p:cNvSpPr/>
          <p:nvPr/>
        </p:nvSpPr>
        <p:spPr>
          <a:xfrm flipH="1">
            <a:off x="9509760" y="5394960"/>
            <a:ext cx="868680" cy="502920"/>
          </a:xfrm>
          <a:prstGeom prst="line">
            <a:avLst/>
          </a:prstGeom>
          <a:noFill/>
          <a:ln w="17780">
            <a:solidFill>
              <a:srgbClr val="3E5578"/>
            </a:solidFill>
            <a:prstDash val="solid"/>
          </a:ln>
        </p:spPr>
      </p:sp>
      <p:sp>
        <p:nvSpPr>
          <p:cNvPr id="7" name="Shape 5"/>
          <p:cNvSpPr/>
          <p:nvPr/>
        </p:nvSpPr>
        <p:spPr>
          <a:xfrm flipH="1" flipV="1">
            <a:off x="9464040" y="4828032"/>
            <a:ext cx="914400" cy="566928"/>
          </a:xfrm>
          <a:prstGeom prst="line">
            <a:avLst/>
          </a:prstGeom>
          <a:noFill/>
          <a:ln w="17780">
            <a:solidFill>
              <a:srgbClr val="3E5578"/>
            </a:solidFill>
            <a:prstDash val="solid"/>
          </a:ln>
        </p:spPr>
      </p:sp>
      <p:sp>
        <p:nvSpPr>
          <p:cNvPr id="8" name="Shape 6"/>
          <p:cNvSpPr/>
          <p:nvPr/>
        </p:nvSpPr>
        <p:spPr>
          <a:xfrm>
            <a:off x="10067544" y="5084064"/>
            <a:ext cx="621792" cy="621792"/>
          </a:xfrm>
          <a:prstGeom prst="ellipse">
            <a:avLst/>
          </a:prstGeom>
          <a:solidFill>
            <a:srgbClr val="6EA8FF"/>
          </a:solidFill>
          <a:ln w="25400">
            <a:solidFill>
              <a:srgbClr val="0F1E33"/>
            </a:solidFill>
            <a:prstDash val="solid"/>
          </a:ln>
        </p:spPr>
      </p:sp>
      <p:sp>
        <p:nvSpPr>
          <p:cNvPr id="9" name="Shape 7"/>
          <p:cNvSpPr/>
          <p:nvPr/>
        </p:nvSpPr>
        <p:spPr>
          <a:xfrm>
            <a:off x="11210544" y="4700016"/>
            <a:ext cx="438912" cy="438912"/>
          </a:xfrm>
          <a:prstGeom prst="ellipse">
            <a:avLst/>
          </a:prstGeom>
          <a:solidFill>
            <a:srgbClr val="159E84"/>
          </a:solidFill>
          <a:ln w="25400">
            <a:solidFill>
              <a:srgbClr val="0F1E33"/>
            </a:solidFill>
            <a:prstDash val="solid"/>
          </a:ln>
        </p:spPr>
      </p:sp>
      <p:sp>
        <p:nvSpPr>
          <p:cNvPr id="10" name="Shape 8"/>
          <p:cNvSpPr/>
          <p:nvPr/>
        </p:nvSpPr>
        <p:spPr>
          <a:xfrm>
            <a:off x="11155680" y="5779008"/>
            <a:ext cx="365760" cy="365760"/>
          </a:xfrm>
          <a:prstGeom prst="ellipse">
            <a:avLst/>
          </a:prstGeom>
          <a:solidFill>
            <a:srgbClr val="7C5CD6"/>
          </a:solidFill>
          <a:ln w="25400">
            <a:solidFill>
              <a:srgbClr val="0F1E33"/>
            </a:solidFill>
            <a:prstDash val="solid"/>
          </a:ln>
        </p:spPr>
      </p:sp>
      <p:sp>
        <p:nvSpPr>
          <p:cNvPr id="11" name="Shape 9"/>
          <p:cNvSpPr/>
          <p:nvPr/>
        </p:nvSpPr>
        <p:spPr>
          <a:xfrm>
            <a:off x="9326880" y="5715000"/>
            <a:ext cx="365760" cy="365760"/>
          </a:xfrm>
          <a:prstGeom prst="ellipse">
            <a:avLst/>
          </a:prstGeom>
          <a:solidFill>
            <a:srgbClr val="DD8F1F"/>
          </a:solidFill>
          <a:ln w="25400">
            <a:solidFill>
              <a:srgbClr val="0F1E33"/>
            </a:solidFill>
            <a:prstDash val="solid"/>
          </a:ln>
        </p:spPr>
      </p:sp>
      <p:sp>
        <p:nvSpPr>
          <p:cNvPr id="12" name="Shape 10"/>
          <p:cNvSpPr/>
          <p:nvPr/>
        </p:nvSpPr>
        <p:spPr>
          <a:xfrm>
            <a:off x="9317736" y="4681728"/>
            <a:ext cx="292608" cy="292608"/>
          </a:xfrm>
          <a:prstGeom prst="ellipse">
            <a:avLst/>
          </a:prstGeom>
          <a:solidFill>
            <a:srgbClr val="159E84"/>
          </a:solidFill>
          <a:ln w="25400">
            <a:solidFill>
              <a:srgbClr val="0F1E33"/>
            </a:solidFill>
            <a:prstDash val="solid"/>
          </a:ln>
        </p:spPr>
      </p:sp>
      <p:sp>
        <p:nvSpPr>
          <p:cNvPr id="13" name="Text 11"/>
          <p:cNvSpPr/>
          <p:nvPr/>
        </p:nvSpPr>
        <p:spPr>
          <a:xfrm>
            <a:off x="685800" y="1554480"/>
            <a:ext cx="1078992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Thanks — go materialize your knowledge.</a:t>
            </a:r>
            <a:endParaRPr lang="en-US" sz="3400" dirty="0"/>
          </a:p>
        </p:txBody>
      </p:sp>
      <p:sp>
        <p:nvSpPr>
          <p:cNvPr id="14" name="Text 12"/>
          <p:cNvSpPr/>
          <p:nvPr/>
        </p:nvSpPr>
        <p:spPr>
          <a:xfrm>
            <a:off x="713232" y="2697480"/>
            <a:ext cx="10515600" cy="365760"/>
          </a:xfrm>
          <a:prstGeom prst="rect">
            <a:avLst/>
          </a:prstGeom>
          <a:noFill/>
          <a:ln/>
        </p:spPr>
        <p:txBody>
          <a:bodyPr wrap="square" lIns="0" tIns="0" rIns="0" bIns="0" rtlCol="0" anchor="ctr"/>
          <a:lstStyle/>
          <a:p>
            <a:pPr indent="0" marL="0">
              <a:buNone/>
            </a:pPr>
            <a:r>
              <a:rPr lang="en-US" sz="1300" dirty="0">
                <a:solidFill>
                  <a:srgbClr val="9FB2CC"/>
                </a:solidFill>
                <a:latin typeface="Courier New" pitchFamily="34" charset="0"/>
                <a:ea typeface="Courier New" pitchFamily="34" charset="-122"/>
                <a:cs typeface="Courier New" pitchFamily="34" charset="-120"/>
              </a:rPr>
              <a:t>demo repo (this talk, runnable)    </a:t>
            </a:r>
            <a:pPr indent="0" marL="0">
              <a:buNone/>
            </a:pPr>
            <a:r>
              <a:rPr lang="en-US" sz="1400" b="1" dirty="0">
                <a:solidFill>
                  <a:srgbClr val="6EA8FF"/>
                </a:solidFill>
                <a:latin typeface="Courier New" pitchFamily="34" charset="0"/>
                <a:ea typeface="Courier New" pitchFamily="34" charset="-122"/>
                <a:cs typeface="Courier New" pitchFamily="34" charset="-120"/>
              </a:rPr>
              <a:t>github.com/johnymontana/neo4j-okf</a:t>
            </a:r>
            <a:endParaRPr lang="en-US" sz="1300" dirty="0"/>
          </a:p>
        </p:txBody>
      </p:sp>
      <p:sp>
        <p:nvSpPr>
          <p:cNvPr id="15" name="Text 13"/>
          <p:cNvSpPr/>
          <p:nvPr/>
        </p:nvSpPr>
        <p:spPr>
          <a:xfrm>
            <a:off x="713232" y="3227832"/>
            <a:ext cx="10515600" cy="365760"/>
          </a:xfrm>
          <a:prstGeom prst="rect">
            <a:avLst/>
          </a:prstGeom>
          <a:noFill/>
          <a:ln/>
        </p:spPr>
        <p:txBody>
          <a:bodyPr wrap="square" lIns="0" tIns="0" rIns="0" bIns="0" rtlCol="0" anchor="ctr"/>
          <a:lstStyle/>
          <a:p>
            <a:pPr indent="0" marL="0">
              <a:buNone/>
            </a:pPr>
            <a:r>
              <a:rPr lang="en-US" sz="1300" dirty="0">
                <a:solidFill>
                  <a:srgbClr val="9FB2CC"/>
                </a:solidFill>
                <a:latin typeface="Courier New" pitchFamily="34" charset="0"/>
                <a:ea typeface="Courier New" pitchFamily="34" charset="-122"/>
                <a:cs typeface="Courier New" pitchFamily="34" charset="-120"/>
              </a:rPr>
              <a:t>OKF spec v0.2 + sample bundles    </a:t>
            </a:r>
            <a:pPr indent="0" marL="0">
              <a:buNone/>
            </a:pPr>
            <a:r>
              <a:rPr lang="en-US" sz="1400" b="1" dirty="0">
                <a:solidFill>
                  <a:srgbClr val="6EA8FF"/>
                </a:solidFill>
                <a:latin typeface="Courier New" pitchFamily="34" charset="0"/>
                <a:ea typeface="Courier New" pitchFamily="34" charset="-122"/>
                <a:cs typeface="Courier New" pitchFamily="34" charset="-120"/>
              </a:rPr>
              <a:t>github.com/GoogleCloudPlatform/knowledge-catalog</a:t>
            </a:r>
            <a:endParaRPr lang="en-US" sz="1300" dirty="0"/>
          </a:p>
        </p:txBody>
      </p:sp>
      <p:sp>
        <p:nvSpPr>
          <p:cNvPr id="16" name="Text 14"/>
          <p:cNvSpPr/>
          <p:nvPr/>
        </p:nvSpPr>
        <p:spPr>
          <a:xfrm>
            <a:off x="713232" y="3758184"/>
            <a:ext cx="10515600" cy="365760"/>
          </a:xfrm>
          <a:prstGeom prst="rect">
            <a:avLst/>
          </a:prstGeom>
          <a:noFill/>
          <a:ln/>
        </p:spPr>
        <p:txBody>
          <a:bodyPr wrap="square" lIns="0" tIns="0" rIns="0" bIns="0" rtlCol="0" anchor="ctr"/>
          <a:lstStyle/>
          <a:p>
            <a:pPr indent="0" marL="0">
              <a:buNone/>
            </a:pPr>
            <a:r>
              <a:rPr lang="en-US" sz="1300" dirty="0">
                <a:solidFill>
                  <a:srgbClr val="9FB2CC"/>
                </a:solidFill>
                <a:latin typeface="Courier New" pitchFamily="34" charset="0"/>
                <a:ea typeface="Courier New" pitchFamily="34" charset="-122"/>
                <a:cs typeface="Courier New" pitchFamily="34" charset="-120"/>
              </a:rPr>
              <a:t>neo4j-graphrag package docs    </a:t>
            </a:r>
            <a:pPr indent="0" marL="0">
              <a:buNone/>
            </a:pPr>
            <a:r>
              <a:rPr lang="en-US" sz="1400" b="1" dirty="0">
                <a:solidFill>
                  <a:srgbClr val="6EA8FF"/>
                </a:solidFill>
                <a:latin typeface="Courier New" pitchFamily="34" charset="0"/>
                <a:ea typeface="Courier New" pitchFamily="34" charset="-122"/>
                <a:cs typeface="Courier New" pitchFamily="34" charset="-120"/>
              </a:rPr>
              <a:t>neo4j.com/docs/neo4j-graphrag-python</a:t>
            </a:r>
            <a:endParaRPr lang="en-US" sz="1300" dirty="0"/>
          </a:p>
        </p:txBody>
      </p:sp>
      <p:sp>
        <p:nvSpPr>
          <p:cNvPr id="17" name="Text 15"/>
          <p:cNvSpPr/>
          <p:nvPr/>
        </p:nvSpPr>
        <p:spPr>
          <a:xfrm>
            <a:off x="713232" y="4288536"/>
            <a:ext cx="10515600" cy="365760"/>
          </a:xfrm>
          <a:prstGeom prst="rect">
            <a:avLst/>
          </a:prstGeom>
          <a:noFill/>
          <a:ln/>
        </p:spPr>
        <p:txBody>
          <a:bodyPr wrap="square" lIns="0" tIns="0" rIns="0" bIns="0" rtlCol="0" anchor="ctr"/>
          <a:lstStyle/>
          <a:p>
            <a:pPr indent="0" marL="0">
              <a:buNone/>
            </a:pPr>
            <a:r>
              <a:rPr lang="en-US" sz="1300" dirty="0">
                <a:solidFill>
                  <a:srgbClr val="9FB2CC"/>
                </a:solidFill>
                <a:latin typeface="Courier New" pitchFamily="34" charset="0"/>
                <a:ea typeface="Courier New" pitchFamily="34" charset="-122"/>
                <a:cs typeface="Courier New" pitchFamily="34" charset="-120"/>
              </a:rPr>
              <a:t>GraphRAG retriever patterns    </a:t>
            </a:r>
            <a:pPr indent="0" marL="0">
              <a:buNone/>
            </a:pPr>
            <a:r>
              <a:rPr lang="en-US" sz="1400" b="1" dirty="0">
                <a:solidFill>
                  <a:srgbClr val="6EA8FF"/>
                </a:solidFill>
                <a:latin typeface="Courier New" pitchFamily="34" charset="0"/>
                <a:ea typeface="Courier New" pitchFamily="34" charset="-122"/>
                <a:cs typeface="Courier New" pitchFamily="34" charset="-120"/>
              </a:rPr>
              <a:t>neo4j.com/developer/genai-ecosystem</a:t>
            </a:r>
            <a:endParaRPr lang="en-US" sz="1300" dirty="0"/>
          </a:p>
        </p:txBody>
      </p:sp>
      <p:sp>
        <p:nvSpPr>
          <p:cNvPr id="18" name="Text 16"/>
          <p:cNvSpPr/>
          <p:nvPr/>
        </p:nvSpPr>
        <p:spPr>
          <a:xfrm>
            <a:off x="713232" y="5806440"/>
            <a:ext cx="7315200" cy="365760"/>
          </a:xfrm>
          <a:prstGeom prst="rect">
            <a:avLst/>
          </a:prstGeom>
          <a:noFill/>
          <a:ln/>
        </p:spPr>
        <p:txBody>
          <a:bodyPr wrap="square" lIns="0" tIns="0" rIns="0" bIns="0" rtlCol="0" anchor="ctr"/>
          <a:lstStyle/>
          <a:p>
            <a:pPr indent="0" marL="0">
              <a:buNone/>
            </a:pPr>
            <a:r>
              <a:rPr lang="en-US" sz="1400" dirty="0">
                <a:solidFill>
                  <a:srgbClr val="C7D6EC"/>
                </a:solidFill>
                <a:latin typeface="Arial" pitchFamily="34" charset="0"/>
                <a:ea typeface="Arial" pitchFamily="34" charset="-122"/>
                <a:cs typeface="Arial" pitchFamily="34" charset="-120"/>
              </a:rPr>
              <a:t>Will Lyon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Markdown to Knowledge Graph — OKF x Neo4j</dc:title>
  <dc:subject>PptxGenJS Presentation</dc:subject>
  <dc:creator>Will Lyon</dc:creator>
  <cp:lastModifiedBy>Will Lyon</cp:lastModifiedBy>
  <cp:revision>1</cp:revision>
  <dcterms:created xsi:type="dcterms:W3CDTF">2026-08-04T13:37:44Z</dcterms:created>
  <dcterms:modified xsi:type="dcterms:W3CDTF">2026-08-04T13:37:44Z</dcterms:modified>
</cp:coreProperties>
</file>